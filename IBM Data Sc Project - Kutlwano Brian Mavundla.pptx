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792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C9C7-BF4B-40CB-854D-7C3D710D868D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BBD9C-3801-43CE-BEF7-85C5B4CE104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2080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2BBD9C-3801-43CE-BEF7-85C5B4CE104D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753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947C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BDB"/>
                </a:solidFill>
                <a:latin typeface="Arial MT"/>
                <a:cs typeface="Arial MT"/>
              </a:defRPr>
            </a:lvl1pPr>
          </a:lstStyle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947C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BDB"/>
                </a:solidFill>
                <a:latin typeface="Arial MT"/>
                <a:cs typeface="Arial MT"/>
              </a:defRPr>
            </a:lvl1pPr>
          </a:lstStyle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947C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BDB"/>
                </a:solidFill>
                <a:latin typeface="Arial MT"/>
                <a:cs typeface="Arial MT"/>
              </a:defRPr>
            </a:lvl1pPr>
          </a:lstStyle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947C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BDB"/>
                </a:solidFill>
                <a:latin typeface="Arial MT"/>
                <a:cs typeface="Arial MT"/>
              </a:defRPr>
            </a:lvl1pPr>
          </a:lstStyle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BDB"/>
                </a:solidFill>
                <a:latin typeface="Arial MT"/>
                <a:cs typeface="Arial MT"/>
              </a:defRPr>
            </a:lvl1pPr>
          </a:lstStyle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12187427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664" y="406095"/>
            <a:ext cx="9844405" cy="7425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947C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4455" y="2505201"/>
            <a:ext cx="5588634" cy="148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8369" y="6091556"/>
            <a:ext cx="332740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C7BDB"/>
                </a:solidFill>
                <a:latin typeface="Arial MT"/>
                <a:cs typeface="Arial MT"/>
              </a:defRPr>
            </a:lvl1pPr>
          </a:lstStyle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spacexdata.com/v4/rocket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Falcon/_9/_and_Falcon_Heavy_launches" TargetMode="External"/><Relationship Id="rId2" Type="http://schemas.openxmlformats.org/officeDocument/2006/relationships/hyperlink" Target="https://api.spacexdata.com/v4/rocket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lmagagula24/" TargetMode="External"/><Relationship Id="rId2" Type="http://schemas.openxmlformats.org/officeDocument/2006/relationships/hyperlink" Target="https://github.com/tflores/applied-data-science-capstone/blob/master/Data%20Collection%20API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lmagagula24/" TargetMode="External"/><Relationship Id="rId2" Type="http://schemas.openxmlformats.org/officeDocument/2006/relationships/hyperlink" Target="https://github.com/tflores/applied-data-science-capstone/blob/master/Data%20Collection%20API.ipynb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github.com/tflores/applied-data-science-capstone/blob/master/Data%20Collection%20API.ipynb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github.com/tlmagagula24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lmagagula24/" TargetMode="External"/><Relationship Id="rId2" Type="http://schemas.openxmlformats.org/officeDocument/2006/relationships/hyperlink" Target="https://github.com/tflores/applied-data-science-capstone/blob/master/Data%20Collection%20API.ipyn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lmagagula24/" TargetMode="External"/><Relationship Id="rId2" Type="http://schemas.openxmlformats.org/officeDocument/2006/relationships/hyperlink" Target="https://github.com/tflores/applied-data-science-capstone/blob/master/Data%20Collection%20API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lmagagula24/" TargetMode="External"/><Relationship Id="rId2" Type="http://schemas.openxmlformats.org/officeDocument/2006/relationships/hyperlink" Target="https://github.com/tflores/applied-data-science-capstone/blob/master/Data%20Collection%20API.ipynb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lmagagula24/" TargetMode="External"/><Relationship Id="rId2" Type="http://schemas.openxmlformats.org/officeDocument/2006/relationships/hyperlink" Target="https://github.com/tflores/applied-data-science-capstone/blob/master/Data%20Collection%20API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hyperlink" Target="https://github.com/tflores/applied-data-science-capstone/blob/d232d76932163635b072952f121a8d70286e0d84/Machine%20Learning%20Prediction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4" Type="http://schemas.openxmlformats.org/officeDocument/2006/relationships/image" Target="../media/image33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8592" y="4643120"/>
            <a:ext cx="5055007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-65" dirty="0">
                <a:solidFill>
                  <a:srgbClr val="E7E6E6"/>
                </a:solidFill>
                <a:latin typeface="Arial MT"/>
                <a:cs typeface="Arial MT"/>
              </a:rPr>
              <a:t>Kutlwano Brian Mavundla </a:t>
            </a:r>
            <a:r>
              <a:rPr sz="1800" spc="-60" dirty="0">
                <a:solidFill>
                  <a:srgbClr val="E7E6E6"/>
                </a:solidFill>
                <a:latin typeface="Arial MT"/>
                <a:cs typeface="Arial MT"/>
              </a:rPr>
              <a:t> </a:t>
            </a:r>
            <a:endParaRPr lang="en-US" sz="1800" spc="-60" dirty="0">
              <a:solidFill>
                <a:srgbClr val="E7E6E6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ZA" spc="-60" dirty="0">
              <a:solidFill>
                <a:srgbClr val="E7E6E6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ZA" sz="1800" spc="-60" dirty="0">
                <a:solidFill>
                  <a:srgbClr val="E7E6E6"/>
                </a:solidFill>
                <a:latin typeface="Arial MT"/>
                <a:cs typeface="Arial MT"/>
              </a:rPr>
              <a:t>26 -12 -2025 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491" y="675131"/>
            <a:ext cx="2106168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7336" y="1943252"/>
            <a:ext cx="2540000" cy="310578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505"/>
              </a:spcBef>
              <a:buChar char="•"/>
              <a:tabLst>
                <a:tab pos="240665" algn="l"/>
              </a:tabLst>
            </a:pP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Executive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Summary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Introduction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Methodology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95"/>
              </a:spcBef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Results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Conclusion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Appendix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148336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7640" y="1192593"/>
            <a:ext cx="9521825" cy="5361532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580"/>
              </a:spcBef>
              <a:buChar char="•"/>
              <a:tabLst>
                <a:tab pos="240665" algn="l"/>
              </a:tabLst>
            </a:pPr>
            <a:r>
              <a:rPr lang="en-US" sz="1200" spc="-114" dirty="0">
                <a:solidFill>
                  <a:srgbClr val="292929"/>
                </a:solidFill>
                <a:latin typeface="Arial MT"/>
                <a:cs typeface="Arial MT"/>
              </a:rPr>
              <a:t>Here we want to reduce the cost of landing on the SpaceX by trying to predict the landing</a:t>
            </a: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Char char="•"/>
              <a:tabLst>
                <a:tab pos="240665" algn="l"/>
              </a:tabLst>
            </a:pPr>
            <a:r>
              <a:rPr lang="en-US" sz="1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following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 methodologies</a:t>
            </a:r>
            <a:r>
              <a:rPr sz="1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1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80" dirty="0">
                <a:solidFill>
                  <a:srgbClr val="292929"/>
                </a:solidFill>
                <a:latin typeface="Arial MT"/>
                <a:cs typeface="Arial MT"/>
              </a:rPr>
              <a:t>used</a:t>
            </a:r>
            <a:r>
              <a:rPr sz="1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2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lang="en-US" sz="1200" spc="-80" dirty="0">
                <a:solidFill>
                  <a:srgbClr val="292929"/>
                </a:solidFill>
                <a:latin typeface="Arial MT"/>
                <a:cs typeface="Arial MT"/>
              </a:rPr>
              <a:t>analyze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data:</a:t>
            </a:r>
            <a:endParaRPr sz="12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215"/>
              </a:spcBef>
              <a:buChar char="•"/>
              <a:tabLst>
                <a:tab pos="697865" algn="l"/>
              </a:tabLst>
            </a:pPr>
            <a:r>
              <a:rPr sz="1200" spc="-5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1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292929"/>
                </a:solidFill>
                <a:latin typeface="Arial MT"/>
                <a:cs typeface="Arial MT"/>
              </a:rPr>
              <a:t>Collection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1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292929"/>
                </a:solidFill>
                <a:latin typeface="Arial MT"/>
                <a:cs typeface="Arial MT"/>
              </a:rPr>
              <a:t>web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92929"/>
                </a:solidFill>
                <a:latin typeface="Arial MT"/>
                <a:cs typeface="Arial MT"/>
              </a:rPr>
              <a:t>scraping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10" dirty="0">
                <a:solidFill>
                  <a:srgbClr val="292929"/>
                </a:solidFill>
                <a:latin typeface="Arial MT"/>
                <a:cs typeface="Arial MT"/>
              </a:rPr>
              <a:t>SpaceX</a:t>
            </a:r>
            <a:r>
              <a:rPr sz="1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92929"/>
                </a:solidFill>
                <a:latin typeface="Arial MT"/>
                <a:cs typeface="Arial MT"/>
              </a:rPr>
              <a:t>API;</a:t>
            </a:r>
            <a:endParaRPr sz="1200" dirty="0">
              <a:latin typeface="Arial MT"/>
              <a:cs typeface="Arial MT"/>
            </a:endParaRPr>
          </a:p>
          <a:p>
            <a:pPr marL="697865" marR="5080" lvl="1" indent="-228600">
              <a:lnSpc>
                <a:spcPts val="2100"/>
              </a:lnSpc>
              <a:spcBef>
                <a:spcPts val="1260"/>
              </a:spcBef>
              <a:buChar char="•"/>
              <a:tabLst>
                <a:tab pos="697865" algn="l"/>
              </a:tabLst>
            </a:pPr>
            <a:r>
              <a:rPr sz="1200" spc="-40" dirty="0">
                <a:solidFill>
                  <a:srgbClr val="292929"/>
                </a:solidFill>
                <a:latin typeface="Arial MT"/>
                <a:cs typeface="Arial MT"/>
              </a:rPr>
              <a:t>Exploratory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 Data</a:t>
            </a:r>
            <a:r>
              <a:rPr sz="1200" spc="-2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7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1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14" dirty="0">
                <a:solidFill>
                  <a:srgbClr val="292929"/>
                </a:solidFill>
                <a:latin typeface="Arial MT"/>
                <a:cs typeface="Arial MT"/>
              </a:rPr>
              <a:t>(EDA),</a:t>
            </a:r>
            <a:r>
              <a:rPr sz="12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including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1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wrangling,</a:t>
            </a:r>
            <a:r>
              <a:rPr sz="12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1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visualization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 and</a:t>
            </a:r>
            <a:r>
              <a:rPr sz="1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interactive 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visual</a:t>
            </a:r>
            <a:r>
              <a:rPr sz="1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analytics;</a:t>
            </a:r>
            <a:endParaRPr sz="12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145"/>
              </a:spcBef>
              <a:buChar char="•"/>
              <a:tabLst>
                <a:tab pos="697865" algn="l"/>
              </a:tabLst>
            </a:pPr>
            <a:r>
              <a:rPr sz="1200" spc="-75" dirty="0">
                <a:solidFill>
                  <a:srgbClr val="292929"/>
                </a:solidFill>
                <a:latin typeface="Arial MT"/>
                <a:cs typeface="Arial MT"/>
              </a:rPr>
              <a:t>Machine</a:t>
            </a:r>
            <a:r>
              <a:rPr sz="1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 MT"/>
                <a:cs typeface="Arial MT"/>
              </a:rPr>
              <a:t>Learning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Prediction.</a:t>
            </a:r>
            <a:endParaRPr lang="en-US" sz="1200" spc="-10" dirty="0">
              <a:solidFill>
                <a:srgbClr val="292929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lang="en-US" sz="1200" b="1" spc="-105" dirty="0">
                <a:solidFill>
                  <a:srgbClr val="252525"/>
                </a:solidFill>
                <a:latin typeface="Arial"/>
                <a:cs typeface="Arial"/>
              </a:rPr>
              <a:t>Results:</a:t>
            </a:r>
            <a:endParaRPr lang="en-US" sz="12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1200" spc="-35" dirty="0">
                <a:solidFill>
                  <a:srgbClr val="252525"/>
                </a:solidFill>
                <a:latin typeface="Microsoft Sans Serif"/>
                <a:cs typeface="Microsoft Sans Serif"/>
              </a:rPr>
              <a:t>Exploratory</a:t>
            </a:r>
            <a:r>
              <a:rPr lang="en-US" sz="1200" spc="-9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lang="en-US" sz="1200" spc="-25" dirty="0">
                <a:solidFill>
                  <a:srgbClr val="252525"/>
                </a:solidFill>
                <a:latin typeface="Microsoft Sans Serif"/>
                <a:cs typeface="Microsoft Sans Serif"/>
              </a:rPr>
              <a:t>Data</a:t>
            </a:r>
            <a:r>
              <a:rPr lang="en-US" sz="1200" spc="-10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lang="en-US" sz="12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Analysis</a:t>
            </a:r>
            <a:endParaRPr lang="en-US" sz="12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12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Interactive</a:t>
            </a:r>
            <a:r>
              <a:rPr lang="en-US" sz="1200" spc="-6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lang="en-US" sz="1200" spc="-55" dirty="0">
                <a:solidFill>
                  <a:srgbClr val="252525"/>
                </a:solidFill>
                <a:latin typeface="Microsoft Sans Serif"/>
                <a:cs typeface="Microsoft Sans Serif"/>
              </a:rPr>
              <a:t>Visual</a:t>
            </a:r>
            <a:r>
              <a:rPr lang="en-US" sz="1200" spc="-7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lang="en-US" sz="1200" spc="-45" dirty="0">
                <a:solidFill>
                  <a:srgbClr val="252525"/>
                </a:solidFill>
                <a:latin typeface="Microsoft Sans Serif"/>
                <a:cs typeface="Microsoft Sans Serif"/>
              </a:rPr>
              <a:t>Analytics</a:t>
            </a:r>
            <a:endParaRPr lang="en-US" sz="12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1200" spc="-40" dirty="0">
                <a:solidFill>
                  <a:srgbClr val="252525"/>
                </a:solidFill>
                <a:latin typeface="Microsoft Sans Serif"/>
                <a:cs typeface="Microsoft Sans Serif"/>
              </a:rPr>
              <a:t>Predictive</a:t>
            </a:r>
            <a:r>
              <a:rPr lang="en-US" sz="1200" spc="-70" dirty="0">
                <a:solidFill>
                  <a:srgbClr val="252525"/>
                </a:solidFill>
                <a:latin typeface="Microsoft Sans Serif"/>
                <a:cs typeface="Microsoft Sans Serif"/>
              </a:rPr>
              <a:t> </a:t>
            </a:r>
            <a:r>
              <a:rPr lang="en-US" sz="1200" spc="-10" dirty="0">
                <a:solidFill>
                  <a:srgbClr val="252525"/>
                </a:solidFill>
                <a:latin typeface="Microsoft Sans Serif"/>
                <a:cs typeface="Microsoft Sans Serif"/>
              </a:rPr>
              <a:t>Analysis</a:t>
            </a:r>
            <a:endParaRPr lang="en-US" sz="1200" dirty="0">
              <a:latin typeface="Microsoft Sans Serif"/>
              <a:cs typeface="Microsoft Sans Serif"/>
            </a:endParaRPr>
          </a:p>
          <a:p>
            <a:pPr marL="469265" lvl="1">
              <a:lnSpc>
                <a:spcPct val="100000"/>
              </a:lnSpc>
              <a:spcBef>
                <a:spcPts val="1145"/>
              </a:spcBef>
              <a:tabLst>
                <a:tab pos="697865" algn="l"/>
              </a:tabLst>
            </a:pPr>
            <a:endParaRPr sz="12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85"/>
              </a:spcBef>
              <a:buChar char="•"/>
              <a:tabLst>
                <a:tab pos="240665" algn="l"/>
              </a:tabLst>
            </a:pPr>
            <a:r>
              <a:rPr sz="1200" spc="-125" dirty="0">
                <a:solidFill>
                  <a:srgbClr val="292929"/>
                </a:solidFill>
                <a:latin typeface="Arial MT"/>
                <a:cs typeface="Arial MT"/>
              </a:rPr>
              <a:t>Summary</a:t>
            </a:r>
            <a:r>
              <a:rPr sz="1200" spc="-2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all</a:t>
            </a:r>
            <a:r>
              <a:rPr sz="1200" spc="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results</a:t>
            </a:r>
            <a:endParaRPr sz="12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215"/>
              </a:spcBef>
              <a:buChar char="•"/>
              <a:tabLst>
                <a:tab pos="697865" algn="l"/>
              </a:tabLst>
            </a:pP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It</a:t>
            </a:r>
            <a:r>
              <a:rPr sz="1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90" dirty="0">
                <a:solidFill>
                  <a:srgbClr val="292929"/>
                </a:solidFill>
                <a:latin typeface="Arial MT"/>
                <a:cs typeface="Arial MT"/>
              </a:rPr>
              <a:t>was</a:t>
            </a:r>
            <a:r>
              <a:rPr sz="1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 MT"/>
                <a:cs typeface="Arial MT"/>
              </a:rPr>
              <a:t>possible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200" spc="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collected</a:t>
            </a:r>
            <a:r>
              <a:rPr sz="1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92929"/>
                </a:solidFill>
                <a:latin typeface="Arial MT"/>
                <a:cs typeface="Arial MT"/>
              </a:rPr>
              <a:t>valuable</a:t>
            </a:r>
            <a:r>
              <a:rPr sz="1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1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1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public</a:t>
            </a:r>
            <a:r>
              <a:rPr sz="1200" spc="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sources;</a:t>
            </a:r>
            <a:endParaRPr sz="12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200"/>
              </a:spcBef>
              <a:buChar char="•"/>
              <a:tabLst>
                <a:tab pos="697865" algn="l"/>
              </a:tabLst>
            </a:pPr>
            <a:r>
              <a:rPr sz="1200" spc="-100" dirty="0">
                <a:solidFill>
                  <a:srgbClr val="292929"/>
                </a:solidFill>
                <a:latin typeface="Arial MT"/>
                <a:cs typeface="Arial MT"/>
              </a:rPr>
              <a:t>EDA</a:t>
            </a:r>
            <a:r>
              <a:rPr sz="1200" spc="-3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292929"/>
                </a:solidFill>
                <a:latin typeface="Arial MT"/>
                <a:cs typeface="Arial MT"/>
              </a:rPr>
              <a:t>allowed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200" spc="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identify</a:t>
            </a:r>
            <a:r>
              <a:rPr sz="1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92929"/>
                </a:solidFill>
                <a:latin typeface="Arial MT"/>
                <a:cs typeface="Arial MT"/>
              </a:rPr>
              <a:t>which features</a:t>
            </a:r>
            <a:r>
              <a:rPr sz="1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1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1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200" spc="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predict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5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12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200" spc="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launchings;</a:t>
            </a:r>
            <a:endParaRPr sz="1200" dirty="0">
              <a:latin typeface="Arial MT"/>
              <a:cs typeface="Arial MT"/>
            </a:endParaRPr>
          </a:p>
          <a:p>
            <a:pPr marL="697865" marR="337185" lvl="1" indent="-228600">
              <a:lnSpc>
                <a:spcPts val="2100"/>
              </a:lnSpc>
              <a:spcBef>
                <a:spcPts val="1265"/>
              </a:spcBef>
              <a:buChar char="•"/>
              <a:tabLst>
                <a:tab pos="697865" algn="l"/>
              </a:tabLst>
            </a:pPr>
            <a:r>
              <a:rPr sz="1200" spc="-75" dirty="0">
                <a:solidFill>
                  <a:srgbClr val="292929"/>
                </a:solidFill>
                <a:latin typeface="Arial MT"/>
                <a:cs typeface="Arial MT"/>
              </a:rPr>
              <a:t>Machine</a:t>
            </a:r>
            <a:r>
              <a:rPr sz="1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292929"/>
                </a:solidFill>
                <a:latin typeface="Arial MT"/>
                <a:cs typeface="Arial MT"/>
              </a:rPr>
              <a:t>Learning</a:t>
            </a:r>
            <a:r>
              <a:rPr sz="1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Prediction</a:t>
            </a:r>
            <a:r>
              <a:rPr sz="1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65" dirty="0">
                <a:solidFill>
                  <a:srgbClr val="292929"/>
                </a:solidFill>
                <a:latin typeface="Arial MT"/>
                <a:cs typeface="Arial MT"/>
              </a:rPr>
              <a:t>showed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model</a:t>
            </a:r>
            <a:r>
              <a:rPr sz="1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200" spc="3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predict </a:t>
            </a:r>
            <a:r>
              <a:rPr sz="1200" spc="-50" dirty="0">
                <a:solidFill>
                  <a:srgbClr val="292929"/>
                </a:solidFill>
                <a:latin typeface="Arial MT"/>
                <a:cs typeface="Arial MT"/>
              </a:rPr>
              <a:t>which</a:t>
            </a:r>
            <a:r>
              <a:rPr sz="1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55" dirty="0">
                <a:solidFill>
                  <a:srgbClr val="292929"/>
                </a:solidFill>
                <a:latin typeface="Arial MT"/>
                <a:cs typeface="Arial MT"/>
              </a:rPr>
              <a:t>characteristics</a:t>
            </a:r>
            <a:r>
              <a:rPr sz="1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are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important</a:t>
            </a:r>
            <a:r>
              <a:rPr sz="1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200" spc="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drive</a:t>
            </a:r>
            <a:r>
              <a:rPr sz="1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this</a:t>
            </a:r>
            <a:r>
              <a:rPr sz="1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opportunity</a:t>
            </a:r>
            <a:r>
              <a:rPr sz="1200" spc="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1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1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25" dirty="0">
                <a:solidFill>
                  <a:srgbClr val="292929"/>
                </a:solidFill>
                <a:latin typeface="Arial MT"/>
                <a:cs typeface="Arial MT"/>
              </a:rPr>
              <a:t>way,</a:t>
            </a:r>
            <a:r>
              <a:rPr sz="1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1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29"/>
                </a:solidFill>
                <a:latin typeface="Arial MT"/>
                <a:cs typeface="Arial MT"/>
              </a:rPr>
              <a:t>all</a:t>
            </a:r>
            <a:r>
              <a:rPr sz="1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292929"/>
                </a:solidFill>
                <a:latin typeface="Arial MT"/>
                <a:cs typeface="Arial MT"/>
              </a:rPr>
              <a:t>collected</a:t>
            </a:r>
            <a:r>
              <a:rPr sz="1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92929"/>
                </a:solidFill>
                <a:latin typeface="Arial MT"/>
                <a:cs typeface="Arial MT"/>
              </a:rPr>
              <a:t>data.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/>
              <a:t>Executive</a:t>
            </a:r>
            <a:r>
              <a:rPr spc="-50" dirty="0"/>
              <a:t> </a:t>
            </a:r>
            <a:r>
              <a:rPr spc="-160" dirty="0"/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64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037336" y="2504389"/>
            <a:ext cx="9703435" cy="4187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2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14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400" spc="-2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292929"/>
                </a:solidFill>
                <a:latin typeface="Arial MT"/>
                <a:cs typeface="Arial MT"/>
              </a:rPr>
              <a:t>objective</a:t>
            </a:r>
            <a:r>
              <a:rPr sz="1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14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400" spc="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292929"/>
                </a:solidFill>
                <a:latin typeface="Arial MT"/>
                <a:cs typeface="Arial MT"/>
              </a:rPr>
              <a:t>evaluate</a:t>
            </a:r>
            <a:r>
              <a:rPr sz="14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viability</a:t>
            </a:r>
            <a:r>
              <a:rPr sz="14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4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292929"/>
                </a:solidFill>
                <a:latin typeface="Arial MT"/>
                <a:cs typeface="Arial MT"/>
              </a:rPr>
              <a:t>new</a:t>
            </a:r>
            <a:r>
              <a:rPr sz="14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90" dirty="0">
                <a:solidFill>
                  <a:srgbClr val="292929"/>
                </a:solidFill>
                <a:latin typeface="Arial MT"/>
                <a:cs typeface="Arial MT"/>
              </a:rPr>
              <a:t>company</a:t>
            </a:r>
            <a:r>
              <a:rPr sz="14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35" dirty="0">
                <a:solidFill>
                  <a:srgbClr val="292929"/>
                </a:solidFill>
                <a:latin typeface="Arial MT"/>
                <a:cs typeface="Arial MT"/>
              </a:rPr>
              <a:t>Space</a:t>
            </a:r>
            <a:r>
              <a:rPr sz="1400" spc="-3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Yto</a:t>
            </a:r>
            <a:r>
              <a:rPr sz="1400" spc="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compete</a:t>
            </a:r>
            <a:endParaRPr sz="1400" dirty="0">
              <a:latin typeface="Arial MT"/>
              <a:cs typeface="Arial MT"/>
            </a:endParaRPr>
          </a:p>
          <a:p>
            <a:pPr marL="241300">
              <a:lnSpc>
                <a:spcPts val="2520"/>
              </a:lnSpc>
            </a:pP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14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30" dirty="0">
                <a:solidFill>
                  <a:srgbClr val="292929"/>
                </a:solidFill>
                <a:latin typeface="Arial MT"/>
                <a:cs typeface="Arial MT"/>
              </a:rPr>
              <a:t>Space</a:t>
            </a:r>
            <a:r>
              <a:rPr sz="1400" spc="-35" dirty="0">
                <a:solidFill>
                  <a:srgbClr val="292929"/>
                </a:solidFill>
                <a:latin typeface="Arial MT"/>
                <a:cs typeface="Arial MT"/>
              </a:rPr>
              <a:t> X.</a:t>
            </a:r>
            <a:endParaRPr sz="14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105"/>
              </a:spcBef>
              <a:buChar char="•"/>
              <a:tabLst>
                <a:tab pos="240665" algn="l"/>
              </a:tabLst>
            </a:pPr>
            <a:r>
              <a:rPr sz="1400" spc="-50" dirty="0">
                <a:solidFill>
                  <a:srgbClr val="292929"/>
                </a:solidFill>
                <a:latin typeface="Arial MT"/>
                <a:cs typeface="Arial MT"/>
              </a:rPr>
              <a:t>Desirable</a:t>
            </a:r>
            <a:r>
              <a:rPr sz="14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answers:</a:t>
            </a:r>
            <a:endParaRPr sz="1400" dirty="0">
              <a:latin typeface="Arial MT"/>
              <a:cs typeface="Arial MT"/>
            </a:endParaRPr>
          </a:p>
          <a:p>
            <a:pPr marL="698500" marR="13970" lvl="1" indent="-228600">
              <a:lnSpc>
                <a:spcPts val="2100"/>
              </a:lnSpc>
              <a:spcBef>
                <a:spcPts val="1275"/>
              </a:spcBef>
              <a:buChar char="•"/>
              <a:tabLst>
                <a:tab pos="698500" algn="l"/>
              </a:tabLst>
            </a:pPr>
            <a:r>
              <a:rPr sz="1400" spc="-75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4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14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292929"/>
                </a:solidFill>
                <a:latin typeface="Arial MT"/>
                <a:cs typeface="Arial MT"/>
              </a:rPr>
              <a:t>way</a:t>
            </a:r>
            <a:r>
              <a:rPr sz="14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40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292929"/>
                </a:solidFill>
                <a:latin typeface="Arial MT"/>
                <a:cs typeface="Arial MT"/>
              </a:rPr>
              <a:t>estimate</a:t>
            </a:r>
            <a:r>
              <a:rPr sz="14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4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total</a:t>
            </a:r>
            <a:r>
              <a:rPr sz="14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cost</a:t>
            </a:r>
            <a:r>
              <a:rPr sz="14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14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292929"/>
                </a:solidFill>
                <a:latin typeface="Arial MT"/>
                <a:cs typeface="Arial MT"/>
              </a:rPr>
              <a:t>launches,</a:t>
            </a:r>
            <a:r>
              <a:rPr sz="14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14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predicting</a:t>
            </a:r>
            <a:r>
              <a:rPr sz="14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14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Arial MT"/>
                <a:cs typeface="Arial MT"/>
              </a:rPr>
              <a:t>landings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 of</a:t>
            </a:r>
            <a:r>
              <a:rPr sz="14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Arial MT"/>
                <a:cs typeface="Arial MT"/>
              </a:rPr>
              <a:t>the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14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55" dirty="0">
                <a:solidFill>
                  <a:srgbClr val="292929"/>
                </a:solidFill>
                <a:latin typeface="Arial MT"/>
                <a:cs typeface="Arial MT"/>
              </a:rPr>
              <a:t>stage</a:t>
            </a:r>
            <a:r>
              <a:rPr sz="14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400" spc="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rockets;</a:t>
            </a:r>
            <a:endParaRPr sz="1400" dirty="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145"/>
              </a:spcBef>
              <a:buChar char="•"/>
              <a:tabLst>
                <a:tab pos="697865" algn="l"/>
              </a:tabLst>
            </a:pPr>
            <a:r>
              <a:rPr sz="1400" spc="-95" dirty="0">
                <a:solidFill>
                  <a:srgbClr val="292929"/>
                </a:solidFill>
                <a:latin typeface="Arial MT"/>
                <a:cs typeface="Arial MT"/>
              </a:rPr>
              <a:t>Where</a:t>
            </a:r>
            <a:r>
              <a:rPr sz="1400" spc="-1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14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4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14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292929"/>
                </a:solidFill>
                <a:latin typeface="Arial MT"/>
                <a:cs typeface="Arial MT"/>
              </a:rPr>
              <a:t>place</a:t>
            </a:r>
            <a:r>
              <a:rPr sz="14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4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65" dirty="0">
                <a:solidFill>
                  <a:srgbClr val="292929"/>
                </a:solidFill>
                <a:latin typeface="Arial MT"/>
                <a:cs typeface="Arial MT"/>
              </a:rPr>
              <a:t>make</a:t>
            </a:r>
            <a:r>
              <a:rPr sz="14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launches.</a:t>
            </a:r>
            <a:endParaRPr lang="en-US" sz="1400" spc="-10" dirty="0">
              <a:solidFill>
                <a:srgbClr val="292929"/>
              </a:solidFill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360"/>
              </a:spcBef>
            </a:pPr>
            <a:r>
              <a:rPr lang="en-US"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innovative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 ability to</a:t>
            </a:r>
            <a:r>
              <a:rPr lang="en-US"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reuse</a:t>
            </a:r>
            <a:r>
              <a:rPr lang="en-US"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lang="en-US" sz="140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1</a:t>
            </a:r>
            <a:r>
              <a:rPr lang="en-US" sz="1400" baseline="24904" dirty="0">
                <a:solidFill>
                  <a:srgbClr val="292929"/>
                </a:solidFill>
                <a:latin typeface="Microsoft Sans Serif"/>
                <a:cs typeface="Microsoft Sans Serif"/>
              </a:rPr>
              <a:t>st</a:t>
            </a:r>
            <a:r>
              <a:rPr lang="en-US" sz="1400" spc="284" baseline="249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lang="en-US" sz="14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lang="en-US" sz="14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its </a:t>
            </a:r>
            <a:r>
              <a:rPr lang="en-US" sz="14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lang="en-US"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9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rocket, </a:t>
            </a:r>
            <a:r>
              <a:rPr lang="en-US"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 </a:t>
            </a:r>
            <a:r>
              <a:rPr lang="en-US"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lowers </a:t>
            </a:r>
            <a:r>
              <a:rPr lang="en-US"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lang="en-US"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10" dirty="0" err="1">
                <a:solidFill>
                  <a:srgbClr val="292929"/>
                </a:solidFill>
                <a:latin typeface="Microsoft Sans Serif"/>
                <a:cs typeface="Microsoft Sans Serif"/>
              </a:rPr>
              <a:t>price</a:t>
            </a:r>
            <a:r>
              <a:rPr lang="en-US" sz="1400" spc="-25" dirty="0" err="1">
                <a:solidFill>
                  <a:srgbClr val="292929"/>
                </a:solidFill>
                <a:latin typeface="Microsoft Sans Serif"/>
                <a:cs typeface="Microsoft Sans Serif"/>
              </a:rPr>
              <a:t>.we</a:t>
            </a:r>
            <a:r>
              <a:rPr lang="en-US"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must check which factors affects outcome and in what way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278765" indent="-227965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78765" algn="l"/>
              </a:tabLst>
            </a:pPr>
            <a:r>
              <a:rPr lang="en-US"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Determining</a:t>
            </a:r>
            <a:r>
              <a:rPr lang="en-US"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1</a:t>
            </a:r>
            <a:r>
              <a:rPr lang="en-US" sz="1400" baseline="24904" dirty="0">
                <a:solidFill>
                  <a:srgbClr val="292929"/>
                </a:solidFill>
                <a:latin typeface="Microsoft Sans Serif"/>
                <a:cs typeface="Microsoft Sans Serif"/>
              </a:rPr>
              <a:t>st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-</a:t>
            </a:r>
            <a:r>
              <a:rPr lang="en-US"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lang="en-US"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lang="en-US"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lang="en-US"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enables</a:t>
            </a:r>
            <a:r>
              <a:rPr lang="en-US" sz="14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us</a:t>
            </a:r>
            <a:r>
              <a:rPr lang="en-US" sz="14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lang="en-US"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determine</a:t>
            </a:r>
            <a:r>
              <a:rPr lang="en-US" sz="14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launch</a:t>
            </a:r>
            <a:r>
              <a:rPr lang="en-US"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278765" indent="-227965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278765" algn="l"/>
              </a:tabLst>
            </a:pP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Our</a:t>
            </a:r>
            <a:r>
              <a:rPr lang="en-US"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goal</a:t>
            </a:r>
            <a:r>
              <a:rPr lang="en-US"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lang="en-US"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lang="en-US"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implement</a:t>
            </a:r>
            <a:r>
              <a:rPr lang="en-US" sz="14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lang="en-US"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workflow</a:t>
            </a:r>
            <a:r>
              <a:rPr lang="en-US"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lang="en-US" sz="1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</a:t>
            </a:r>
            <a:r>
              <a:rPr lang="en-US"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1</a:t>
            </a:r>
            <a:r>
              <a:rPr lang="en-US" sz="1400" baseline="24904" dirty="0">
                <a:solidFill>
                  <a:srgbClr val="292929"/>
                </a:solidFill>
                <a:latin typeface="Microsoft Sans Serif"/>
                <a:cs typeface="Microsoft Sans Serif"/>
              </a:rPr>
              <a:t>st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-</a:t>
            </a:r>
            <a:r>
              <a:rPr lang="en-US"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lang="en-US"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lang="en-US" sz="14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lang="en-US" sz="14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lang="en-US" sz="14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factors</a:t>
            </a:r>
            <a:r>
              <a:rPr lang="en-US" sz="14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affect</a:t>
            </a:r>
            <a:r>
              <a:rPr lang="en-US" sz="14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1</a:t>
            </a:r>
            <a:r>
              <a:rPr lang="en-US" sz="1400" baseline="24904" dirty="0">
                <a:solidFill>
                  <a:srgbClr val="292929"/>
                </a:solidFill>
                <a:latin typeface="Microsoft Sans Serif"/>
                <a:cs typeface="Microsoft Sans Serif"/>
              </a:rPr>
              <a:t>st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-</a:t>
            </a:r>
            <a:r>
              <a:rPr lang="en-US" sz="14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lang="en-US" sz="14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lang="en-US" sz="14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lang="en-US" sz="14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lang="en-US" sz="14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lang="en-US" sz="14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dirty="0">
                <a:solidFill>
                  <a:srgbClr val="292929"/>
                </a:solidFill>
                <a:latin typeface="Microsoft Sans Serif"/>
                <a:cs typeface="Microsoft Sans Serif"/>
              </a:rPr>
              <a:t>what</a:t>
            </a:r>
            <a:r>
              <a:rPr lang="en-US" sz="14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lang="en-US" sz="1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way?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  <a:tabLst>
                <a:tab pos="278765" algn="l"/>
              </a:tabLst>
            </a:pPr>
            <a:endParaRPr lang="en-US" sz="2200" dirty="0">
              <a:latin typeface="Microsoft Sans Serif"/>
              <a:cs typeface="Microsoft Sans Serif"/>
            </a:endParaRPr>
          </a:p>
          <a:p>
            <a:pPr marL="697865" lvl="1" indent="-227965">
              <a:lnSpc>
                <a:spcPct val="100000"/>
              </a:lnSpc>
              <a:spcBef>
                <a:spcPts val="1145"/>
              </a:spcBef>
              <a:buChar char="•"/>
              <a:tabLst>
                <a:tab pos="697865" algn="l"/>
              </a:tabLst>
            </a:pP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969622" y="6410043"/>
            <a:ext cx="13843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-50" dirty="0">
                <a:solidFill>
                  <a:srgbClr val="1C7BDB"/>
                </a:solidFill>
                <a:latin typeface="Arial MT"/>
                <a:cs typeface="Arial MT"/>
              </a:rPr>
              <a:t>5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410360"/>
            <a:ext cx="9732010" cy="448246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200" spc="-100" dirty="0">
                <a:solidFill>
                  <a:srgbClr val="0947C9"/>
                </a:solidFill>
                <a:latin typeface="Arial MT"/>
                <a:cs typeface="Arial MT"/>
              </a:rPr>
              <a:t>Executive</a:t>
            </a:r>
            <a:r>
              <a:rPr sz="2200" spc="15" dirty="0">
                <a:solidFill>
                  <a:srgbClr val="0947C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947C9"/>
                </a:solidFill>
                <a:latin typeface="Arial MT"/>
                <a:cs typeface="Arial MT"/>
              </a:rPr>
              <a:t>Summary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Char char="•"/>
              <a:tabLst>
                <a:tab pos="240665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collection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methodology:</a:t>
            </a:r>
            <a:endParaRPr sz="22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900" spc="-55" dirty="0">
                <a:solidFill>
                  <a:srgbClr val="766F6F"/>
                </a:solidFill>
                <a:latin typeface="Arial MT"/>
                <a:cs typeface="Arial MT"/>
              </a:rPr>
              <a:t>Data</a:t>
            </a:r>
            <a:r>
              <a:rPr sz="1900" spc="-11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66F6F"/>
                </a:solidFill>
                <a:latin typeface="Arial MT"/>
                <a:cs typeface="Arial MT"/>
              </a:rPr>
              <a:t>from</a:t>
            </a:r>
            <a:r>
              <a:rPr sz="1900" spc="-13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114" dirty="0">
                <a:solidFill>
                  <a:srgbClr val="766F6F"/>
                </a:solidFill>
                <a:latin typeface="Arial MT"/>
                <a:cs typeface="Arial MT"/>
              </a:rPr>
              <a:t>Space</a:t>
            </a:r>
            <a:r>
              <a:rPr sz="1900" spc="-22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66F6F"/>
                </a:solidFill>
                <a:latin typeface="Arial MT"/>
                <a:cs typeface="Arial MT"/>
              </a:rPr>
              <a:t>X</a:t>
            </a:r>
            <a:r>
              <a:rPr sz="1900" spc="-36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90" dirty="0">
                <a:solidFill>
                  <a:srgbClr val="766F6F"/>
                </a:solidFill>
                <a:latin typeface="Arial MT"/>
                <a:cs typeface="Arial MT"/>
              </a:rPr>
              <a:t>was</a:t>
            </a:r>
            <a:r>
              <a:rPr sz="1900" spc="-1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766F6F"/>
                </a:solidFill>
                <a:latin typeface="Arial MT"/>
                <a:cs typeface="Arial MT"/>
              </a:rPr>
              <a:t>obtained</a:t>
            </a:r>
            <a:r>
              <a:rPr sz="1900" spc="-4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66F6F"/>
                </a:solidFill>
                <a:latin typeface="Arial MT"/>
                <a:cs typeface="Arial MT"/>
              </a:rPr>
              <a:t>from</a:t>
            </a:r>
            <a:r>
              <a:rPr sz="1900" spc="-4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766F6F"/>
                </a:solidFill>
                <a:latin typeface="Arial MT"/>
                <a:cs typeface="Arial MT"/>
              </a:rPr>
              <a:t>2</a:t>
            </a:r>
            <a:r>
              <a:rPr sz="1900" spc="-19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766F6F"/>
                </a:solidFill>
                <a:latin typeface="Arial MT"/>
                <a:cs typeface="Arial MT"/>
              </a:rPr>
              <a:t>sources:</a:t>
            </a:r>
            <a:endParaRPr sz="1900">
              <a:latin typeface="Arial MT"/>
              <a:cs typeface="Arial MT"/>
            </a:endParaRPr>
          </a:p>
          <a:p>
            <a:pPr marL="1155065" lvl="2" indent="-228600">
              <a:lnSpc>
                <a:spcPct val="100000"/>
              </a:lnSpc>
              <a:spcBef>
                <a:spcPts val="1410"/>
              </a:spcBef>
              <a:buChar char="•"/>
              <a:tabLst>
                <a:tab pos="1155065" algn="l"/>
              </a:tabLst>
            </a:pPr>
            <a:r>
              <a:rPr sz="1800" spc="-100" dirty="0">
                <a:solidFill>
                  <a:srgbClr val="766F6F"/>
                </a:solidFill>
                <a:latin typeface="Arial MT"/>
                <a:cs typeface="Arial MT"/>
              </a:rPr>
              <a:t>Space</a:t>
            </a:r>
            <a:r>
              <a:rPr sz="1800" spc="-229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66F6F"/>
                </a:solidFill>
                <a:latin typeface="Arial MT"/>
                <a:cs typeface="Arial MT"/>
              </a:rPr>
              <a:t>XAPI(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2"/>
              </a:rPr>
              <a:t>https://api.spacexdata.com/v4/rockets/</a:t>
            </a:r>
            <a:r>
              <a:rPr sz="1800" spc="-10" dirty="0">
                <a:solidFill>
                  <a:srgbClr val="766F6F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1155065" marR="909955" lvl="2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1155065" algn="l"/>
              </a:tabLst>
            </a:pPr>
            <a:r>
              <a:rPr sz="1800" spc="-10" dirty="0">
                <a:solidFill>
                  <a:srgbClr val="766F6F"/>
                </a:solidFill>
                <a:latin typeface="Arial MT"/>
                <a:cs typeface="Arial MT"/>
              </a:rPr>
              <a:t>WebScraping </a:t>
            </a:r>
            <a:r>
              <a:rPr sz="1800" spc="-45" dirty="0">
                <a:solidFill>
                  <a:srgbClr val="766F6F"/>
                </a:solidFill>
                <a:latin typeface="Arial MT"/>
                <a:cs typeface="Arial MT"/>
              </a:rPr>
              <a:t>(https://en.wikipedia.org/wiki/List_of_Falcon/_9/_and_Falcon_Heavy_launches)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Char char="•"/>
              <a:tabLst>
                <a:tab pos="240665" algn="l"/>
              </a:tabLst>
            </a:pP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wrangling</a:t>
            </a:r>
            <a:endParaRPr sz="2200">
              <a:latin typeface="Arial MT"/>
              <a:cs typeface="Arial MT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900" spc="-55" dirty="0">
                <a:solidFill>
                  <a:srgbClr val="766F6F"/>
                </a:solidFill>
                <a:latin typeface="Arial MT"/>
                <a:cs typeface="Arial MT"/>
              </a:rPr>
              <a:t>Collected</a:t>
            </a:r>
            <a:r>
              <a:rPr sz="1900" spc="-8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766F6F"/>
                </a:solidFill>
                <a:latin typeface="Arial MT"/>
                <a:cs typeface="Arial MT"/>
              </a:rPr>
              <a:t>data</a:t>
            </a:r>
            <a:r>
              <a:rPr sz="1900" spc="-90" dirty="0">
                <a:solidFill>
                  <a:srgbClr val="766F6F"/>
                </a:solidFill>
                <a:latin typeface="Arial MT"/>
                <a:cs typeface="Arial MT"/>
              </a:rPr>
              <a:t> was</a:t>
            </a:r>
            <a:r>
              <a:rPr sz="1900" spc="-1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766F6F"/>
                </a:solidFill>
                <a:latin typeface="Arial MT"/>
                <a:cs typeface="Arial MT"/>
              </a:rPr>
              <a:t>enriched</a:t>
            </a:r>
            <a:r>
              <a:rPr sz="1900" spc="-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66F6F"/>
                </a:solidFill>
                <a:latin typeface="Arial MT"/>
                <a:cs typeface="Arial MT"/>
              </a:rPr>
              <a:t>by</a:t>
            </a:r>
            <a:r>
              <a:rPr sz="1900" spc="-13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30" dirty="0">
                <a:solidFill>
                  <a:srgbClr val="766F6F"/>
                </a:solidFill>
                <a:latin typeface="Arial MT"/>
                <a:cs typeface="Arial MT"/>
              </a:rPr>
              <a:t>creating</a:t>
            </a:r>
            <a:r>
              <a:rPr sz="1900" spc="-10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766F6F"/>
                </a:solidFill>
                <a:latin typeface="Arial MT"/>
                <a:cs typeface="Arial MT"/>
              </a:rPr>
              <a:t>a</a:t>
            </a:r>
            <a:r>
              <a:rPr sz="1900" spc="-26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766F6F"/>
                </a:solidFill>
                <a:latin typeface="Arial MT"/>
                <a:cs typeface="Arial MT"/>
              </a:rPr>
              <a:t>landing</a:t>
            </a:r>
            <a:r>
              <a:rPr sz="1900" spc="-9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766F6F"/>
                </a:solidFill>
                <a:latin typeface="Arial MT"/>
                <a:cs typeface="Arial MT"/>
              </a:rPr>
              <a:t>outcome</a:t>
            </a:r>
            <a:r>
              <a:rPr sz="1900" spc="-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766F6F"/>
                </a:solidFill>
                <a:latin typeface="Arial MT"/>
                <a:cs typeface="Arial MT"/>
              </a:rPr>
              <a:t>label</a:t>
            </a:r>
            <a:r>
              <a:rPr sz="1900" spc="-6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766F6F"/>
                </a:solidFill>
                <a:latin typeface="Arial MT"/>
                <a:cs typeface="Arial MT"/>
              </a:rPr>
              <a:t>based</a:t>
            </a:r>
            <a:r>
              <a:rPr sz="1900" spc="-13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766F6F"/>
                </a:solidFill>
                <a:latin typeface="Arial MT"/>
                <a:cs typeface="Arial MT"/>
              </a:rPr>
              <a:t>on</a:t>
            </a:r>
            <a:r>
              <a:rPr sz="1900" spc="-7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30" dirty="0">
                <a:solidFill>
                  <a:srgbClr val="766F6F"/>
                </a:solidFill>
                <a:latin typeface="Arial MT"/>
                <a:cs typeface="Arial MT"/>
              </a:rPr>
              <a:t>outcome</a:t>
            </a:r>
            <a:r>
              <a:rPr sz="1900" spc="4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766F6F"/>
                </a:solidFill>
                <a:latin typeface="Arial MT"/>
                <a:cs typeface="Arial MT"/>
              </a:rPr>
              <a:t>data </a:t>
            </a:r>
            <a:r>
              <a:rPr sz="1900" spc="-10" dirty="0">
                <a:solidFill>
                  <a:srgbClr val="766F6F"/>
                </a:solidFill>
                <a:latin typeface="Arial MT"/>
                <a:cs typeface="Arial MT"/>
              </a:rPr>
              <a:t>after</a:t>
            </a:r>
            <a:r>
              <a:rPr sz="1900" spc="-12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766F6F"/>
                </a:solidFill>
                <a:latin typeface="Arial MT"/>
                <a:cs typeface="Arial MT"/>
              </a:rPr>
              <a:t>summarizing</a:t>
            </a:r>
            <a:r>
              <a:rPr sz="1900" spc="-7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766F6F"/>
                </a:solidFill>
                <a:latin typeface="Arial MT"/>
                <a:cs typeface="Arial MT"/>
              </a:rPr>
              <a:t>and</a:t>
            </a:r>
            <a:r>
              <a:rPr sz="1900" spc="-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30" dirty="0">
                <a:solidFill>
                  <a:srgbClr val="766F6F"/>
                </a:solidFill>
                <a:latin typeface="Arial MT"/>
                <a:cs typeface="Arial MT"/>
              </a:rPr>
              <a:t>analyzing</a:t>
            </a:r>
            <a:r>
              <a:rPr sz="1900" spc="16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766F6F"/>
                </a:solidFill>
                <a:latin typeface="Arial MT"/>
                <a:cs typeface="Arial MT"/>
              </a:rPr>
              <a:t>features</a:t>
            </a:r>
            <a:endParaRPr sz="19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Char char="•"/>
              <a:tabLst>
                <a:tab pos="240665" algn="l"/>
              </a:tabLst>
            </a:pP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exploratory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(EDA)</a:t>
            </a:r>
            <a:r>
              <a:rPr sz="2200" spc="-3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visualization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3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SQL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629917"/>
            <a:ext cx="9791700" cy="3263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0" dirty="0">
                <a:solidFill>
                  <a:srgbClr val="0947C9"/>
                </a:solidFill>
                <a:latin typeface="Arial MT"/>
                <a:cs typeface="Arial MT"/>
              </a:rPr>
              <a:t>Executive</a:t>
            </a:r>
            <a:r>
              <a:rPr sz="2200" spc="15" dirty="0">
                <a:solidFill>
                  <a:srgbClr val="0947C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947C9"/>
                </a:solidFill>
                <a:latin typeface="Arial MT"/>
                <a:cs typeface="Arial MT"/>
              </a:rPr>
              <a:t>Summary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910"/>
              </a:spcBef>
              <a:buChar char="•"/>
              <a:tabLst>
                <a:tab pos="240665" algn="l"/>
              </a:tabLst>
            </a:pP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interactive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visual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analytics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Folium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Plotly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Dash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895"/>
              </a:spcBef>
              <a:buChar char="•"/>
              <a:tabLst>
                <a:tab pos="240665" algn="l"/>
                <a:tab pos="5807075" algn="l"/>
              </a:tabLst>
            </a:pP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Perform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predictive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2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classification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models</a:t>
            </a:r>
            <a:endParaRPr sz="2200">
              <a:latin typeface="Arial MT"/>
              <a:cs typeface="Arial MT"/>
            </a:endParaRPr>
          </a:p>
          <a:p>
            <a:pPr marL="697865" marR="5080" lvl="1" indent="-228600">
              <a:lnSpc>
                <a:spcPct val="120000"/>
              </a:lnSpc>
              <a:spcBef>
                <a:spcPts val="1105"/>
              </a:spcBef>
              <a:buChar char="•"/>
              <a:tabLst>
                <a:tab pos="697865" algn="l"/>
              </a:tabLst>
            </a:pPr>
            <a:r>
              <a:rPr sz="2200" spc="-60" dirty="0">
                <a:solidFill>
                  <a:srgbClr val="766F6F"/>
                </a:solidFill>
                <a:latin typeface="Arial MT"/>
                <a:cs typeface="Arial MT"/>
              </a:rPr>
              <a:t>Data</a:t>
            </a:r>
            <a:r>
              <a:rPr sz="2200" spc="-14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that</a:t>
            </a:r>
            <a:r>
              <a:rPr sz="2200" spc="-11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766F6F"/>
                </a:solidFill>
                <a:latin typeface="Arial MT"/>
                <a:cs typeface="Arial MT"/>
              </a:rPr>
              <a:t>was</a:t>
            </a:r>
            <a:r>
              <a:rPr sz="2200" spc="-23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766F6F"/>
                </a:solidFill>
                <a:latin typeface="Arial MT"/>
                <a:cs typeface="Arial MT"/>
              </a:rPr>
              <a:t>collected</a:t>
            </a:r>
            <a:r>
              <a:rPr sz="2200" spc="-12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until</a:t>
            </a:r>
            <a:r>
              <a:rPr sz="2200" spc="1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this</a:t>
            </a:r>
            <a:r>
              <a:rPr sz="2200" spc="-4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766F6F"/>
                </a:solidFill>
                <a:latin typeface="Arial MT"/>
                <a:cs typeface="Arial MT"/>
              </a:rPr>
              <a:t>step</a:t>
            </a:r>
            <a:r>
              <a:rPr sz="2200" spc="-114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766F6F"/>
                </a:solidFill>
                <a:latin typeface="Arial MT"/>
                <a:cs typeface="Arial MT"/>
              </a:rPr>
              <a:t>were</a:t>
            </a:r>
            <a:r>
              <a:rPr sz="2200" spc="-14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766F6F"/>
                </a:solidFill>
                <a:latin typeface="Arial MT"/>
                <a:cs typeface="Arial MT"/>
              </a:rPr>
              <a:t>normalized,</a:t>
            </a:r>
            <a:r>
              <a:rPr sz="2200" spc="-11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66F6F"/>
                </a:solidFill>
                <a:latin typeface="Arial MT"/>
                <a:cs typeface="Arial MT"/>
              </a:rPr>
              <a:t>divided</a:t>
            </a:r>
            <a:r>
              <a:rPr sz="2200" spc="-7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in</a:t>
            </a:r>
            <a:r>
              <a:rPr sz="2200" spc="-5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66F6F"/>
                </a:solidFill>
                <a:latin typeface="Arial MT"/>
                <a:cs typeface="Arial MT"/>
              </a:rPr>
              <a:t>training </a:t>
            </a:r>
            <a:r>
              <a:rPr sz="2200" spc="-60" dirty="0">
                <a:solidFill>
                  <a:srgbClr val="766F6F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test</a:t>
            </a:r>
            <a:r>
              <a:rPr sz="2200" spc="-114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766F6F"/>
                </a:solidFill>
                <a:latin typeface="Arial MT"/>
                <a:cs typeface="Arial MT"/>
              </a:rPr>
              <a:t>data</a:t>
            </a:r>
            <a:r>
              <a:rPr sz="2200" spc="-10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766F6F"/>
                </a:solidFill>
                <a:latin typeface="Arial MT"/>
                <a:cs typeface="Arial MT"/>
              </a:rPr>
              <a:t>sets</a:t>
            </a:r>
            <a:r>
              <a:rPr sz="2200" spc="-16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766F6F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766F6F"/>
                </a:solidFill>
                <a:latin typeface="Arial MT"/>
                <a:cs typeface="Arial MT"/>
              </a:rPr>
              <a:t>evaluated</a:t>
            </a:r>
            <a:r>
              <a:rPr sz="2200" spc="-10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by</a:t>
            </a:r>
            <a:r>
              <a:rPr sz="2200" spc="-9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four</a:t>
            </a:r>
            <a:r>
              <a:rPr sz="2200" spc="-1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766F6F"/>
                </a:solidFill>
                <a:latin typeface="Arial MT"/>
                <a:cs typeface="Arial MT"/>
              </a:rPr>
              <a:t>different</a:t>
            </a:r>
            <a:r>
              <a:rPr sz="2200" spc="-2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766F6F"/>
                </a:solidFill>
                <a:latin typeface="Arial MT"/>
                <a:cs typeface="Arial MT"/>
              </a:rPr>
              <a:t>classification</a:t>
            </a:r>
            <a:r>
              <a:rPr sz="2200" spc="-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766F6F"/>
                </a:solidFill>
                <a:latin typeface="Arial MT"/>
                <a:cs typeface="Arial MT"/>
              </a:rPr>
              <a:t>models,</a:t>
            </a:r>
            <a:r>
              <a:rPr sz="2200" spc="-14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766F6F"/>
                </a:solidFill>
                <a:latin typeface="Arial MT"/>
                <a:cs typeface="Arial MT"/>
              </a:rPr>
              <a:t>being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the</a:t>
            </a:r>
            <a:r>
              <a:rPr sz="2200" spc="-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114" dirty="0">
                <a:solidFill>
                  <a:srgbClr val="766F6F"/>
                </a:solidFill>
                <a:latin typeface="Arial MT"/>
                <a:cs typeface="Arial MT"/>
              </a:rPr>
              <a:t>accuracy</a:t>
            </a:r>
            <a:r>
              <a:rPr sz="2200" spc="-23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766F6F"/>
                </a:solidFill>
                <a:latin typeface="Arial MT"/>
                <a:cs typeface="Arial MT"/>
              </a:rPr>
              <a:t>of</a:t>
            </a:r>
            <a:r>
              <a:rPr sz="2200" spc="-1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766F6F"/>
                </a:solidFill>
                <a:latin typeface="Arial MT"/>
                <a:cs typeface="Arial MT"/>
              </a:rPr>
              <a:t>each</a:t>
            </a:r>
            <a:r>
              <a:rPr sz="2200" spc="-24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766F6F"/>
                </a:solidFill>
                <a:latin typeface="Arial MT"/>
                <a:cs typeface="Arial MT"/>
              </a:rPr>
              <a:t>model</a:t>
            </a:r>
            <a:r>
              <a:rPr sz="2200" spc="-8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766F6F"/>
                </a:solidFill>
                <a:latin typeface="Arial MT"/>
                <a:cs typeface="Arial MT"/>
              </a:rPr>
              <a:t>evaluated</a:t>
            </a:r>
            <a:r>
              <a:rPr sz="2200" spc="-13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766F6F"/>
                </a:solidFill>
                <a:latin typeface="Arial MT"/>
                <a:cs typeface="Arial MT"/>
              </a:rPr>
              <a:t>using</a:t>
            </a:r>
            <a:r>
              <a:rPr sz="2200" spc="-8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766F6F"/>
                </a:solidFill>
                <a:latin typeface="Arial MT"/>
                <a:cs typeface="Arial MT"/>
              </a:rPr>
              <a:t>different</a:t>
            </a:r>
            <a:r>
              <a:rPr sz="2200" spc="-60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766F6F"/>
                </a:solidFill>
                <a:latin typeface="Arial MT"/>
                <a:cs typeface="Arial MT"/>
              </a:rPr>
              <a:t>combinations</a:t>
            </a:r>
            <a:r>
              <a:rPr sz="2200" spc="-55" dirty="0">
                <a:solidFill>
                  <a:srgbClr val="766F6F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766F6F"/>
                </a:solidFill>
                <a:latin typeface="Arial MT"/>
                <a:cs typeface="Arial MT"/>
              </a:rPr>
              <a:t>of </a:t>
            </a:r>
            <a:r>
              <a:rPr sz="2200" spc="-10" dirty="0">
                <a:solidFill>
                  <a:srgbClr val="766F6F"/>
                </a:solidFill>
                <a:latin typeface="Arial MT"/>
                <a:cs typeface="Arial MT"/>
              </a:rPr>
              <a:t>parameters.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1002601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sets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collected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Space</a:t>
            </a:r>
            <a:r>
              <a:rPr sz="22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XAPI</a:t>
            </a:r>
            <a:r>
              <a:rPr sz="2200" spc="-2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(</a:t>
            </a:r>
            <a:r>
              <a:rPr sz="2200" u="sng" spc="-30" dirty="0">
                <a:solidFill>
                  <a:srgbClr val="0000FF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  <a:hlinkClick r:id="rId2"/>
              </a:rPr>
              <a:t>https://api.spacexdata.com/v4/rockets/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)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Wikipedia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(</a:t>
            </a:r>
            <a:r>
              <a:rPr sz="2200" u="sng" spc="-45" dirty="0">
                <a:solidFill>
                  <a:srgbClr val="0000FF"/>
                </a:solidFill>
                <a:uFill>
                  <a:solidFill>
                    <a:srgbClr val="292929"/>
                  </a:solidFill>
                </a:uFill>
                <a:latin typeface="Arial MT"/>
                <a:cs typeface="Arial MT"/>
                <a:hlinkClick r:id="rId3"/>
              </a:rPr>
              <a:t>https://en.wikipedia.org/wiki/List_of_Falcon/_9/_and_Falcon_Heavy_launches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),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web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scraping</a:t>
            </a:r>
            <a:r>
              <a:rPr sz="2200" spc="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technics.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Data</a:t>
            </a:r>
            <a:r>
              <a:rPr spc="-170" dirty="0"/>
              <a:t> </a:t>
            </a:r>
            <a:r>
              <a:rPr spc="-75" dirty="0"/>
              <a:t>Collection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261" y="1809114"/>
            <a:ext cx="4319270" cy="2215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283210" indent="-229235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SpaceX</a:t>
            </a:r>
            <a:r>
              <a:rPr sz="2200" spc="-2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offers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public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API</a:t>
            </a:r>
            <a:r>
              <a:rPr sz="2200" spc="-2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from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where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can</a:t>
            </a:r>
            <a:r>
              <a:rPr sz="22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be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obtained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then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used;</a:t>
            </a:r>
            <a:endParaRPr sz="2200">
              <a:latin typeface="Arial MT"/>
              <a:cs typeface="Arial MT"/>
            </a:endParaRPr>
          </a:p>
          <a:p>
            <a:pPr marL="241300" marR="5080" indent="-229235">
              <a:lnSpc>
                <a:spcPct val="100000"/>
              </a:lnSpc>
              <a:spcBef>
                <a:spcPts val="1405"/>
              </a:spcBef>
              <a:buChar char="•"/>
              <a:tabLst>
                <a:tab pos="241300" algn="l"/>
              </a:tabLst>
            </a:pP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This</a:t>
            </a:r>
            <a:r>
              <a:rPr sz="2200" spc="-3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API</a:t>
            </a:r>
            <a:r>
              <a:rPr sz="2200" spc="-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was</a:t>
            </a:r>
            <a:r>
              <a:rPr sz="2200" spc="-2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used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according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the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flowchart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beside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then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is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persisted.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261" y="4700142"/>
            <a:ext cx="442595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241300" algn="l"/>
              </a:tabLst>
            </a:pP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Source</a:t>
            </a:r>
            <a:r>
              <a:rPr sz="1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code:</a:t>
            </a:r>
            <a:r>
              <a:rPr sz="14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400" u="sng" spc="-2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https://github.com</a:t>
            </a:r>
            <a:r>
              <a:rPr sz="1400" u="sng" spc="-20" dirty="0">
                <a:solidFill>
                  <a:schemeClr val="tx2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/</a:t>
            </a:r>
            <a:r>
              <a:rPr lang="en-ZA" sz="1400" dirty="0">
                <a:solidFill>
                  <a:schemeClr val="tx2"/>
                </a:solidFill>
                <a:hlinkClick r:id="rId3"/>
              </a:rPr>
              <a:t>tlmagagula24/</a:t>
            </a:r>
            <a:r>
              <a:rPr lang="en-ZA" sz="1400" dirty="0">
                <a:solidFill>
                  <a:schemeClr val="tx2"/>
                </a:solidFill>
              </a:rPr>
              <a:t> winning space race-</a:t>
            </a:r>
            <a:r>
              <a:rPr sz="1400" spc="-10" dirty="0">
                <a:solidFill>
                  <a:srgbClr val="0461C1"/>
                </a:solidFill>
                <a:latin typeface="Arial MT"/>
                <a:cs typeface="Arial MT"/>
              </a:rPr>
              <a:t> </a:t>
            </a:r>
            <a:r>
              <a:rPr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Project/blob/main/Data%20Collection%20API.ipynb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576008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Data</a:t>
            </a:r>
            <a:r>
              <a:rPr spc="-210" dirty="0"/>
              <a:t> </a:t>
            </a:r>
            <a:r>
              <a:rPr spc="-95" dirty="0"/>
              <a:t>Collection</a:t>
            </a:r>
            <a:r>
              <a:rPr spc="-80" dirty="0"/>
              <a:t> </a:t>
            </a:r>
            <a:r>
              <a:rPr spc="-30" dirty="0"/>
              <a:t>–</a:t>
            </a:r>
            <a:r>
              <a:rPr spc="-395" dirty="0"/>
              <a:t> </a:t>
            </a:r>
            <a:r>
              <a:rPr spc="-235" dirty="0"/>
              <a:t>SpaceX</a:t>
            </a:r>
            <a:r>
              <a:rPr spc="-270" dirty="0"/>
              <a:t> </a:t>
            </a:r>
            <a:r>
              <a:rPr spc="-75" dirty="0"/>
              <a:t>API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80959" y="1786127"/>
            <a:ext cx="1917192" cy="10759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34630" y="1883790"/>
            <a:ext cx="162623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-2540" algn="ctr">
              <a:lnSpc>
                <a:spcPts val="1939"/>
              </a:lnSpc>
              <a:spcBef>
                <a:spcPts val="345"/>
              </a:spcBef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parse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SpaceX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r>
              <a:rPr sz="18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80959" y="2900172"/>
            <a:ext cx="1917700" cy="1537970"/>
            <a:chOff x="7680959" y="2900172"/>
            <a:chExt cx="1917700" cy="153797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9619" y="2900172"/>
              <a:ext cx="499872" cy="4221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0959" y="3357372"/>
              <a:ext cx="1917192" cy="10805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808214" y="3459302"/>
            <a:ext cx="1676400" cy="7943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ctr">
              <a:lnSpc>
                <a:spcPts val="1939"/>
              </a:lnSpc>
              <a:spcBef>
                <a:spcPts val="35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Filter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only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include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Falcon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9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launches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80959" y="4475988"/>
            <a:ext cx="1917700" cy="1536700"/>
            <a:chOff x="7680959" y="4475988"/>
            <a:chExt cx="1917700" cy="15367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9619" y="4475988"/>
              <a:ext cx="499872" cy="4206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0959" y="4933188"/>
              <a:ext cx="1917192" cy="107899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787385" y="5168900"/>
            <a:ext cx="1696720" cy="55435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546100" marR="5080" indent="-533400">
              <a:lnSpc>
                <a:spcPts val="2000"/>
              </a:lnSpc>
              <a:spcBef>
                <a:spcPts val="3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Deal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Missing Values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064" y="1800809"/>
            <a:ext cx="3705225" cy="2216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25400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SpaceX</a:t>
            </a:r>
            <a:r>
              <a:rPr sz="2200" spc="-3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launches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can</a:t>
            </a:r>
            <a:r>
              <a:rPr sz="22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also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be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obtained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from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Wikipedia;</a:t>
            </a:r>
            <a:endParaRPr sz="2200">
              <a:latin typeface="Arial MT"/>
              <a:cs typeface="Arial MT"/>
            </a:endParaRPr>
          </a:p>
          <a:p>
            <a:pPr marL="241300" marR="5080" indent="-228600">
              <a:lnSpc>
                <a:spcPct val="100000"/>
              </a:lnSpc>
              <a:spcBef>
                <a:spcPts val="1410"/>
              </a:spcBef>
              <a:buChar char="•"/>
              <a:tabLst>
                <a:tab pos="241300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downloaded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from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Wikipedia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according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the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flowchart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then</a:t>
            </a:r>
            <a:r>
              <a:rPr sz="2200" spc="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persisted.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1064" y="4692141"/>
            <a:ext cx="3734435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spcBef>
                <a:spcPts val="100"/>
              </a:spcBef>
              <a:buFontTx/>
              <a:buChar char="•"/>
              <a:tabLst>
                <a:tab pos="241300" algn="l"/>
              </a:tabLst>
            </a:pPr>
            <a:r>
              <a:rPr sz="14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lang="en-US"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Source</a:t>
            </a:r>
            <a:r>
              <a:rPr lang="en-US" sz="1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lang="en-US"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code:</a:t>
            </a:r>
            <a:r>
              <a:rPr lang="en-US" sz="14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400" u="sng" spc="-2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https://github.com</a:t>
            </a:r>
            <a:r>
              <a:rPr lang="en-US" sz="1400" u="sng" spc="-20" dirty="0">
                <a:solidFill>
                  <a:schemeClr val="tx2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/</a:t>
            </a:r>
            <a:r>
              <a:rPr lang="en-US" sz="1400" dirty="0">
                <a:solidFill>
                  <a:schemeClr val="tx2"/>
                </a:solidFill>
                <a:hlinkClick r:id="rId3"/>
              </a:rPr>
              <a:t>tlmagagula24/</a:t>
            </a:r>
            <a:r>
              <a:rPr lang="en-US" sz="1400" dirty="0">
                <a:solidFill>
                  <a:schemeClr val="tx2"/>
                </a:solidFill>
              </a:rPr>
              <a:t> winning space race-</a:t>
            </a:r>
            <a:r>
              <a:rPr lang="en-US" sz="1400" spc="-10" dirty="0">
                <a:solidFill>
                  <a:srgbClr val="0461C1"/>
                </a:solidFill>
                <a:latin typeface="Arial MT"/>
                <a:cs typeface="Arial MT"/>
              </a:rPr>
              <a:t> </a:t>
            </a:r>
            <a:r>
              <a:rPr lang="en-US"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Project/blob/main/Data%20Collection%20API.ipynb</a:t>
            </a:r>
            <a:endParaRPr lang="en-US" sz="1400" dirty="0">
              <a:latin typeface="Arial MT"/>
              <a:cs typeface="Arial MT"/>
            </a:endParaRPr>
          </a:p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354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Data</a:t>
            </a:r>
            <a:r>
              <a:rPr spc="-235" dirty="0"/>
              <a:t> </a:t>
            </a:r>
            <a:r>
              <a:rPr spc="-80" dirty="0"/>
              <a:t>Collection</a:t>
            </a:r>
            <a:r>
              <a:rPr spc="-135" dirty="0"/>
              <a:t> </a:t>
            </a:r>
            <a:r>
              <a:rPr dirty="0"/>
              <a:t>-</a:t>
            </a:r>
            <a:r>
              <a:rPr spc="365" dirty="0"/>
              <a:t> </a:t>
            </a:r>
            <a:r>
              <a:rPr spc="-75" dirty="0"/>
              <a:t>Scraping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43571" y="1775460"/>
            <a:ext cx="2791968" cy="10820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91755" y="1993519"/>
            <a:ext cx="190944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32715" marR="5080" indent="-120650">
              <a:lnSpc>
                <a:spcPts val="2100"/>
              </a:lnSpc>
              <a:spcBef>
                <a:spcPts val="219"/>
              </a:spcBef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Falcon9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Wiki</a:t>
            </a:r>
            <a:r>
              <a:rPr sz="18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243571" y="2892551"/>
            <a:ext cx="2792095" cy="1542415"/>
            <a:chOff x="7243571" y="2892551"/>
            <a:chExt cx="2792095" cy="154241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2892551"/>
              <a:ext cx="504444" cy="4251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3571" y="3352799"/>
              <a:ext cx="2791968" cy="108203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73239" y="3455670"/>
            <a:ext cx="254571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ctr">
              <a:lnSpc>
                <a:spcPts val="1939"/>
              </a:lnSpc>
              <a:spcBef>
                <a:spcPts val="34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Extract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column/variable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names</a:t>
            </a:r>
            <a:r>
              <a:rPr sz="18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80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header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43571" y="4469891"/>
            <a:ext cx="2792095" cy="1542415"/>
            <a:chOff x="7243571" y="4469891"/>
            <a:chExt cx="2792095" cy="154241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571" y="4469891"/>
              <a:ext cx="504444" cy="4251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3571" y="4933187"/>
              <a:ext cx="2791968" cy="107899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70775" y="5034153"/>
            <a:ext cx="234759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8255" algn="ctr">
              <a:lnSpc>
                <a:spcPts val="1939"/>
              </a:lnSpc>
              <a:spcBef>
                <a:spcPts val="345"/>
              </a:spcBef>
            </a:pP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data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parsing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HTML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08479"/>
            <a:ext cx="8529320" cy="1814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2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Initially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some</a:t>
            </a:r>
            <a:r>
              <a:rPr sz="2200" spc="-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Exploratory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25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(EDA)</a:t>
            </a:r>
            <a:r>
              <a:rPr sz="2200" spc="-3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was</a:t>
            </a:r>
            <a:r>
              <a:rPr sz="2200" spc="-229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performed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ts val="2520"/>
              </a:lnSpc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dataset.</a:t>
            </a:r>
            <a:endParaRPr sz="2200">
              <a:latin typeface="Arial MT"/>
              <a:cs typeface="Arial MT"/>
            </a:endParaRPr>
          </a:p>
          <a:p>
            <a:pPr marL="241300" marR="189230" indent="-228600">
              <a:lnSpc>
                <a:spcPts val="2500"/>
              </a:lnSpc>
              <a:spcBef>
                <a:spcPts val="765"/>
              </a:spcBef>
              <a:buChar char="•"/>
              <a:tabLst>
                <a:tab pos="241300" algn="l"/>
                <a:tab pos="7892415" algn="l"/>
              </a:tabLst>
            </a:pP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Then</a:t>
            </a:r>
            <a:r>
              <a:rPr sz="2200" spc="-2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summaries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site,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occurrences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each</a:t>
            </a:r>
            <a:r>
              <a:rPr sz="2200" spc="-2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orbit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occurrences</a:t>
            </a:r>
            <a:r>
              <a:rPr sz="22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mission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outcome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orbit</a:t>
            </a:r>
            <a:r>
              <a:rPr sz="2200" spc="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type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calculated.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645"/>
              </a:spcBef>
              <a:buChar char="•"/>
              <a:tabLst>
                <a:tab pos="240665" algn="l"/>
              </a:tabLst>
            </a:pP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Finally,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outcome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label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was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created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Outcome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column.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64" y="5420969"/>
            <a:ext cx="7948295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Source</a:t>
            </a:r>
            <a:r>
              <a:rPr sz="1400" spc="1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code: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lang="en-US"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Source</a:t>
            </a:r>
            <a:r>
              <a:rPr lang="en-US" sz="1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lang="en-US"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code:</a:t>
            </a:r>
            <a:r>
              <a:rPr lang="en-US" sz="14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400" u="sng" spc="-2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4"/>
              </a:rPr>
              <a:t>https://github.com</a:t>
            </a:r>
            <a:r>
              <a:rPr lang="en-US" sz="1400" u="sng" spc="-20" dirty="0">
                <a:solidFill>
                  <a:schemeClr val="tx2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4"/>
              </a:rPr>
              <a:t>/</a:t>
            </a:r>
            <a:r>
              <a:rPr lang="en-US" sz="1400" dirty="0">
                <a:solidFill>
                  <a:schemeClr val="tx2"/>
                </a:solidFill>
                <a:hlinkClick r:id="rId4"/>
              </a:rPr>
              <a:t>tlmagagula24/</a:t>
            </a:r>
            <a:r>
              <a:rPr lang="en-US" sz="1400" dirty="0">
                <a:solidFill>
                  <a:schemeClr val="tx2"/>
                </a:solidFill>
              </a:rPr>
              <a:t> winning space race-</a:t>
            </a:r>
            <a:r>
              <a:rPr lang="en-US" sz="1400" spc="-10" dirty="0">
                <a:solidFill>
                  <a:srgbClr val="0461C1"/>
                </a:solidFill>
                <a:latin typeface="Arial MT"/>
                <a:cs typeface="Arial MT"/>
              </a:rPr>
              <a:t> </a:t>
            </a:r>
            <a:r>
              <a:rPr lang="en-US"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Project/blob/main/Data%20Collection%20API.ipynb</a:t>
            </a:r>
            <a:endParaRPr lang="en-US" sz="14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Data</a:t>
            </a:r>
            <a:r>
              <a:rPr spc="-175" dirty="0"/>
              <a:t> </a:t>
            </a:r>
            <a:r>
              <a:rPr spc="-75" dirty="0"/>
              <a:t>Wrangling</a:t>
            </a: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5672" y="3881628"/>
            <a:ext cx="2165604" cy="13106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20951" y="4307840"/>
            <a:ext cx="4870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EDA</a:t>
            </a:r>
            <a:endParaRPr sz="2200">
              <a:highlight>
                <a:srgbClr val="FF00FF"/>
              </a:highlight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32632" y="4256532"/>
            <a:ext cx="483108" cy="5593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72711" y="3881628"/>
            <a:ext cx="2167128" cy="131064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38065" y="4307840"/>
            <a:ext cx="18173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Summarizations</a:t>
            </a:r>
            <a:endParaRPr sz="2200">
              <a:highlight>
                <a:srgbClr val="FF00FF"/>
              </a:highlight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22719" y="4256532"/>
            <a:ext cx="483107" cy="5593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3881628"/>
            <a:ext cx="2164079" cy="13106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93305" y="4003928"/>
            <a:ext cx="1718310" cy="9702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-635" algn="ctr">
              <a:lnSpc>
                <a:spcPts val="2400"/>
              </a:lnSpc>
              <a:spcBef>
                <a:spcPts val="375"/>
              </a:spcBef>
            </a:pPr>
            <a:r>
              <a:rPr sz="2200" spc="-10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Creation</a:t>
            </a:r>
            <a:r>
              <a:rPr sz="2200" spc="-75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of </a:t>
            </a:r>
            <a:r>
              <a:rPr sz="2200" spc="-10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Landing </a:t>
            </a:r>
            <a:r>
              <a:rPr sz="2200" spc="-30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Outcome</a:t>
            </a:r>
            <a:r>
              <a:rPr sz="2200" spc="-60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highlight>
                  <a:srgbClr val="FF00FF"/>
                </a:highlight>
                <a:latin typeface="Calibri"/>
                <a:cs typeface="Calibri"/>
              </a:rPr>
              <a:t>Label</a:t>
            </a:r>
            <a:endParaRPr sz="2200" dirty="0">
              <a:highlight>
                <a:srgbClr val="FF00FF"/>
              </a:highlight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3134" y="6077813"/>
            <a:ext cx="266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solidFill>
                  <a:srgbClr val="1C7BDB"/>
                </a:solidFill>
                <a:latin typeface="Arial MT"/>
                <a:cs typeface="Arial MT"/>
              </a:rPr>
              <a:t>13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64" y="1339322"/>
            <a:ext cx="9535160" cy="5823389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0"/>
              </a:spcBef>
              <a:buChar char="•"/>
              <a:tabLst>
                <a:tab pos="240665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following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SQLqueries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2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performed:</a:t>
            </a:r>
            <a:endParaRPr sz="22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20"/>
              </a:spcBef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Names</a:t>
            </a:r>
            <a:r>
              <a:rPr sz="1800" spc="-2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8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unique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18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sites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space</a:t>
            </a:r>
            <a:r>
              <a:rPr sz="18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mission;</a:t>
            </a:r>
            <a:endParaRPr sz="18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120" dirty="0">
                <a:solidFill>
                  <a:srgbClr val="292929"/>
                </a:solidFill>
                <a:latin typeface="Arial MT"/>
                <a:cs typeface="Arial MT"/>
              </a:rPr>
              <a:t>Top</a:t>
            </a:r>
            <a:r>
              <a:rPr sz="18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5</a:t>
            </a:r>
            <a:r>
              <a:rPr sz="1800" spc="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18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sites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whose</a:t>
            </a:r>
            <a:r>
              <a:rPr sz="18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name</a:t>
            </a:r>
            <a:r>
              <a:rPr sz="18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begin</a:t>
            </a:r>
            <a:r>
              <a:rPr sz="18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18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string</a:t>
            </a:r>
            <a:r>
              <a:rPr sz="18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'CCA’;</a:t>
            </a:r>
            <a:endParaRPr sz="18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Total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r>
              <a:rPr sz="18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carried</a:t>
            </a: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Arial MT"/>
                <a:cs typeface="Arial MT"/>
              </a:rPr>
              <a:t>boosters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292929"/>
                </a:solidFill>
                <a:latin typeface="Arial MT"/>
                <a:cs typeface="Arial MT"/>
              </a:rPr>
              <a:t>launched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Arial MT"/>
                <a:cs typeface="Arial MT"/>
              </a:rPr>
              <a:t>NASA</a:t>
            </a:r>
            <a:r>
              <a:rPr sz="1800" spc="-3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(CRS);</a:t>
            </a:r>
            <a:endParaRPr sz="18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70" dirty="0">
                <a:solidFill>
                  <a:srgbClr val="292929"/>
                </a:solidFill>
                <a:latin typeface="Arial MT"/>
                <a:cs typeface="Arial MT"/>
              </a:rPr>
              <a:t>Average</a:t>
            </a:r>
            <a:r>
              <a:rPr sz="18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r>
              <a:rPr sz="18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carried</a:t>
            </a: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booster 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version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F9</a:t>
            </a:r>
            <a:r>
              <a:rPr sz="1800" spc="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v1.1;</a:t>
            </a:r>
            <a:endParaRPr sz="18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Date</a:t>
            </a:r>
            <a:r>
              <a:rPr sz="18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Arial MT"/>
                <a:cs typeface="Arial MT"/>
              </a:rPr>
              <a:t>when</a:t>
            </a: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18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18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outcome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8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ground</a:t>
            </a:r>
            <a:r>
              <a:rPr sz="18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pad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was</a:t>
            </a:r>
            <a:r>
              <a:rPr sz="1800" spc="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achieved;</a:t>
            </a:r>
            <a:endParaRPr sz="1800" dirty="0">
              <a:latin typeface="Arial MT"/>
              <a:cs typeface="Arial MT"/>
            </a:endParaRPr>
          </a:p>
          <a:p>
            <a:pPr marL="697865" marR="274320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Names</a:t>
            </a:r>
            <a:r>
              <a:rPr sz="18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Arial MT"/>
                <a:cs typeface="Arial MT"/>
              </a:rPr>
              <a:t>boosters</a:t>
            </a:r>
            <a:r>
              <a:rPr sz="18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which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18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1800" spc="-2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drone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ship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18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r>
              <a:rPr sz="18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between </a:t>
            </a:r>
            <a:r>
              <a:rPr sz="1800" spc="45" dirty="0">
                <a:solidFill>
                  <a:srgbClr val="292929"/>
                </a:solidFill>
                <a:latin typeface="Arial MT"/>
                <a:cs typeface="Arial MT"/>
              </a:rPr>
              <a:t>4000</a:t>
            </a:r>
            <a:r>
              <a:rPr sz="1800" spc="1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45" dirty="0">
                <a:solidFill>
                  <a:srgbClr val="292929"/>
                </a:solidFill>
                <a:latin typeface="Arial MT"/>
                <a:cs typeface="Arial MT"/>
              </a:rPr>
              <a:t>6000</a:t>
            </a:r>
            <a:r>
              <a:rPr sz="1800" spc="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kg;</a:t>
            </a:r>
            <a:endParaRPr sz="18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Total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number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18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Arial MT"/>
                <a:cs typeface="Arial MT"/>
              </a:rPr>
              <a:t>failure</a:t>
            </a:r>
            <a:r>
              <a:rPr sz="18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Arial MT"/>
                <a:cs typeface="Arial MT"/>
              </a:rPr>
              <a:t>mission</a:t>
            </a:r>
            <a:r>
              <a:rPr sz="180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outcomes;</a:t>
            </a:r>
            <a:endParaRPr sz="18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Names</a:t>
            </a:r>
            <a:r>
              <a:rPr sz="18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versions</a:t>
            </a: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which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18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carried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maximum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800" spc="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mass;</a:t>
            </a:r>
            <a:endParaRPr sz="1800" dirty="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30" dirty="0">
                <a:solidFill>
                  <a:srgbClr val="292929"/>
                </a:solidFill>
                <a:latin typeface="Arial MT"/>
                <a:cs typeface="Arial MT"/>
              </a:rPr>
              <a:t>Failed</a:t>
            </a: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18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drone</a:t>
            </a:r>
            <a:r>
              <a:rPr sz="18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Arial MT"/>
                <a:cs typeface="Arial MT"/>
              </a:rPr>
              <a:t>ship,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their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versions,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names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18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endParaRPr sz="1800" dirty="0">
              <a:latin typeface="Arial MT"/>
              <a:cs typeface="Arial MT"/>
            </a:endParaRPr>
          </a:p>
          <a:p>
            <a:pPr marL="697865">
              <a:lnSpc>
                <a:spcPct val="100000"/>
              </a:lnSpc>
              <a:spcBef>
                <a:spcPts val="5"/>
              </a:spcBef>
            </a:pP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year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2015;</a:t>
            </a:r>
            <a:r>
              <a:rPr sz="1800" spc="3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endParaRPr sz="1800" dirty="0">
              <a:latin typeface="Arial MT"/>
              <a:cs typeface="Arial MT"/>
            </a:endParaRPr>
          </a:p>
          <a:p>
            <a:pPr marL="697865" marR="436880" lvl="1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697865" algn="l"/>
              </a:tabLst>
            </a:pP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Rank</a:t>
            </a:r>
            <a:r>
              <a:rPr sz="18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count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18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(such</a:t>
            </a:r>
            <a:r>
              <a:rPr sz="18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Arial MT"/>
                <a:cs typeface="Arial MT"/>
              </a:rPr>
              <a:t>as</a:t>
            </a:r>
            <a:r>
              <a:rPr sz="18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Failure</a:t>
            </a:r>
            <a:r>
              <a:rPr sz="18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(drone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Arial MT"/>
                <a:cs typeface="Arial MT"/>
              </a:rPr>
              <a:t>ship)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or </a:t>
            </a:r>
            <a:r>
              <a:rPr sz="1800" spc="-10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1800" spc="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(ground </a:t>
            </a:r>
            <a:r>
              <a:rPr sz="1800" spc="-65" dirty="0">
                <a:solidFill>
                  <a:srgbClr val="292929"/>
                </a:solidFill>
                <a:latin typeface="Arial MT"/>
                <a:cs typeface="Arial MT"/>
              </a:rPr>
              <a:t>pad))</a:t>
            </a:r>
            <a:r>
              <a:rPr sz="18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between</a:t>
            </a:r>
            <a:r>
              <a:rPr sz="18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date</a:t>
            </a:r>
            <a:r>
              <a:rPr sz="18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50" dirty="0">
                <a:solidFill>
                  <a:srgbClr val="292929"/>
                </a:solidFill>
                <a:latin typeface="Arial MT"/>
                <a:cs typeface="Arial MT"/>
              </a:rPr>
              <a:t>2010-06-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04</a:t>
            </a:r>
            <a:r>
              <a:rPr sz="1800" spc="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800" spc="3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2017-03-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20.</a:t>
            </a:r>
            <a:endParaRPr sz="1800" dirty="0">
              <a:latin typeface="Arial MT"/>
              <a:cs typeface="Arial MT"/>
            </a:endParaRPr>
          </a:p>
          <a:p>
            <a:pPr marL="240665" indent="-227965">
              <a:spcBef>
                <a:spcPts val="1405"/>
              </a:spcBef>
              <a:buFontTx/>
              <a:buChar char="•"/>
              <a:tabLst>
                <a:tab pos="240665" algn="l"/>
              </a:tabLst>
            </a:pPr>
            <a:r>
              <a:rPr sz="1400" spc="25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lang="en-US"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Source</a:t>
            </a:r>
            <a:r>
              <a:rPr lang="en-US" sz="1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lang="en-US"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code:</a:t>
            </a:r>
            <a:r>
              <a:rPr lang="en-US" sz="14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400" u="sng" spc="-2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https://github.com</a:t>
            </a:r>
            <a:r>
              <a:rPr lang="en-US" sz="1400" u="sng" spc="-20" dirty="0">
                <a:solidFill>
                  <a:schemeClr val="tx2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/</a:t>
            </a:r>
            <a:r>
              <a:rPr lang="en-US" sz="1400" dirty="0">
                <a:solidFill>
                  <a:schemeClr val="tx2"/>
                </a:solidFill>
                <a:hlinkClick r:id="rId3"/>
              </a:rPr>
              <a:t>tlmagagula24/</a:t>
            </a:r>
            <a:r>
              <a:rPr lang="en-US" sz="1400" dirty="0">
                <a:solidFill>
                  <a:schemeClr val="tx2"/>
                </a:solidFill>
              </a:rPr>
              <a:t> winning space race-</a:t>
            </a:r>
            <a:r>
              <a:rPr lang="en-US" sz="1400" spc="-10" dirty="0">
                <a:solidFill>
                  <a:srgbClr val="0461C1"/>
                </a:solidFill>
                <a:latin typeface="Arial MT"/>
                <a:cs typeface="Arial MT"/>
              </a:rPr>
              <a:t> </a:t>
            </a:r>
            <a:r>
              <a:rPr lang="en-US"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Project/blob/main/Data%20Collection%20API.ipynb</a:t>
            </a:r>
            <a:endParaRPr lang="en-US" sz="14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349"/>
            <a:ext cx="276415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0" dirty="0"/>
              <a:t>EDA</a:t>
            </a:r>
            <a:r>
              <a:rPr spc="-525" dirty="0"/>
              <a:t> </a:t>
            </a:r>
            <a:r>
              <a:rPr spc="-20" dirty="0"/>
              <a:t>with</a:t>
            </a:r>
            <a:r>
              <a:rPr spc="-330" dirty="0"/>
              <a:t> </a:t>
            </a:r>
            <a:r>
              <a:rPr spc="-180" dirty="0"/>
              <a:t>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9244965" cy="1424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98933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204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explore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data,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scatterplots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barplots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used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visualize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the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relationship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between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pair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features:</a:t>
            </a:r>
            <a:endParaRPr sz="22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20"/>
              </a:spcBef>
              <a:buChar char="•"/>
              <a:tabLst>
                <a:tab pos="697865" algn="l"/>
              </a:tabLst>
            </a:pP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Payload </a:t>
            </a:r>
            <a:r>
              <a:rPr sz="1800" spc="-100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r>
              <a:rPr sz="18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X</a:t>
            </a:r>
            <a:r>
              <a:rPr sz="1800" spc="-3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Flight</a:t>
            </a:r>
            <a:r>
              <a:rPr sz="18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Number,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18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18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X</a:t>
            </a:r>
            <a:r>
              <a:rPr sz="1800" spc="-3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Flight</a:t>
            </a:r>
            <a:r>
              <a:rPr sz="18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Number,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Launch</a:t>
            </a:r>
            <a:r>
              <a:rPr sz="18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18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XPayload</a:t>
            </a:r>
            <a:r>
              <a:rPr sz="18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Mass,</a:t>
            </a:r>
            <a:endParaRPr sz="1800">
              <a:latin typeface="Arial MT"/>
              <a:cs typeface="Arial MT"/>
            </a:endParaRPr>
          </a:p>
          <a:p>
            <a:pPr marL="697865">
              <a:lnSpc>
                <a:spcPct val="100000"/>
              </a:lnSpc>
            </a:pP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Orbit</a:t>
            </a:r>
            <a:r>
              <a:rPr sz="18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Flight</a:t>
            </a:r>
            <a:r>
              <a:rPr sz="18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292929"/>
                </a:solidFill>
                <a:latin typeface="Arial MT"/>
                <a:cs typeface="Arial MT"/>
              </a:rPr>
              <a:t>Number,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8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800" spc="3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Arial MT"/>
                <a:cs typeface="Arial MT"/>
              </a:rPr>
              <a:t>Orbit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64" y="5924803"/>
            <a:ext cx="51612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241300" algn="l"/>
              </a:tabLst>
            </a:pPr>
            <a:r>
              <a:rPr lang="en-US"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Source</a:t>
            </a:r>
            <a:r>
              <a:rPr lang="en-US" sz="1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lang="en-US"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code:</a:t>
            </a:r>
            <a:r>
              <a:rPr lang="en-US" sz="14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400" u="sng" spc="-2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https://github.com</a:t>
            </a:r>
            <a:r>
              <a:rPr lang="en-US" sz="1400" u="sng" spc="-20" dirty="0">
                <a:solidFill>
                  <a:schemeClr val="tx2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/</a:t>
            </a:r>
            <a:r>
              <a:rPr lang="en-US" sz="1400" dirty="0">
                <a:solidFill>
                  <a:schemeClr val="tx2"/>
                </a:solidFill>
                <a:hlinkClick r:id="rId3"/>
              </a:rPr>
              <a:t>tlmagagula24/</a:t>
            </a:r>
            <a:r>
              <a:rPr lang="en-US" sz="1400" dirty="0">
                <a:solidFill>
                  <a:schemeClr val="tx2"/>
                </a:solidFill>
              </a:rPr>
              <a:t> winning space race-</a:t>
            </a:r>
            <a:r>
              <a:rPr lang="en-US" sz="1400" spc="-10" dirty="0">
                <a:solidFill>
                  <a:srgbClr val="0461C1"/>
                </a:solidFill>
                <a:latin typeface="Arial MT"/>
                <a:cs typeface="Arial MT"/>
              </a:rPr>
              <a:t> </a:t>
            </a:r>
            <a:r>
              <a:rPr lang="en-US"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Project/blob/main/Data%20Collection%20API.ipynb</a:t>
            </a:r>
            <a:endParaRPr lang="en-US" sz="1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619" y="3429000"/>
            <a:ext cx="9441180" cy="23820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13134" y="6077813"/>
            <a:ext cx="266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solidFill>
                  <a:srgbClr val="1C7BDB"/>
                </a:solidFill>
                <a:latin typeface="Arial MT"/>
                <a:cs typeface="Arial MT"/>
              </a:rPr>
              <a:t>12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0" dirty="0"/>
              <a:t>EDA</a:t>
            </a:r>
            <a:r>
              <a:rPr spc="-545" dirty="0"/>
              <a:t> </a:t>
            </a:r>
            <a:r>
              <a:rPr dirty="0"/>
              <a:t>with</a:t>
            </a:r>
            <a:r>
              <a:rPr spc="40" dirty="0"/>
              <a:t> </a:t>
            </a:r>
            <a:r>
              <a:rPr spc="-120" dirty="0"/>
              <a:t>Data</a:t>
            </a:r>
            <a:r>
              <a:rPr spc="-335" dirty="0"/>
              <a:t> </a:t>
            </a:r>
            <a:r>
              <a:rPr spc="-60" dirty="0"/>
              <a:t>Visualization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31658"/>
            <a:ext cx="10243185" cy="271716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95"/>
              </a:spcBef>
              <a:buChar char="•"/>
              <a:tabLst>
                <a:tab pos="241300" algn="l"/>
              </a:tabLst>
            </a:pPr>
            <a:r>
              <a:rPr sz="2600" spc="-80" dirty="0">
                <a:solidFill>
                  <a:srgbClr val="292929"/>
                </a:solidFill>
                <a:latin typeface="Arial MT"/>
                <a:cs typeface="Arial MT"/>
              </a:rPr>
              <a:t>Markers,</a:t>
            </a:r>
            <a:r>
              <a:rPr sz="26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circles,</a:t>
            </a:r>
            <a:r>
              <a:rPr sz="26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30" dirty="0">
                <a:solidFill>
                  <a:srgbClr val="292929"/>
                </a:solidFill>
                <a:latin typeface="Arial MT"/>
                <a:cs typeface="Arial MT"/>
              </a:rPr>
              <a:t>lines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3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6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60" dirty="0">
                <a:solidFill>
                  <a:srgbClr val="292929"/>
                </a:solidFill>
                <a:latin typeface="Arial MT"/>
                <a:cs typeface="Arial MT"/>
              </a:rPr>
              <a:t>marker</a:t>
            </a:r>
            <a:r>
              <a:rPr sz="26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45" dirty="0">
                <a:solidFill>
                  <a:srgbClr val="292929"/>
                </a:solidFill>
                <a:latin typeface="Arial MT"/>
                <a:cs typeface="Arial MT"/>
              </a:rPr>
              <a:t>clusters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50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6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70" dirty="0">
                <a:solidFill>
                  <a:srgbClr val="292929"/>
                </a:solidFill>
                <a:latin typeface="Arial MT"/>
                <a:cs typeface="Arial MT"/>
              </a:rPr>
              <a:t>used</a:t>
            </a:r>
            <a:r>
              <a:rPr sz="26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26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35" dirty="0">
                <a:solidFill>
                  <a:srgbClr val="292929"/>
                </a:solidFill>
                <a:latin typeface="Arial MT"/>
                <a:cs typeface="Arial MT"/>
              </a:rPr>
              <a:t>Folium</a:t>
            </a:r>
            <a:r>
              <a:rPr sz="2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292929"/>
                </a:solidFill>
                <a:latin typeface="Arial MT"/>
                <a:cs typeface="Arial MT"/>
              </a:rPr>
              <a:t>Maps</a:t>
            </a:r>
            <a:endParaRPr sz="2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015"/>
              </a:spcBef>
              <a:buChar char="•"/>
              <a:tabLst>
                <a:tab pos="697865" algn="l"/>
              </a:tabLst>
            </a:pPr>
            <a:r>
              <a:rPr sz="1900" spc="-65" dirty="0">
                <a:solidFill>
                  <a:srgbClr val="292929"/>
                </a:solidFill>
                <a:latin typeface="Arial MT"/>
                <a:cs typeface="Arial MT"/>
              </a:rPr>
              <a:t>Markers</a:t>
            </a:r>
            <a:r>
              <a:rPr sz="19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Arial MT"/>
                <a:cs typeface="Arial MT"/>
              </a:rPr>
              <a:t>indicate</a:t>
            </a:r>
            <a:r>
              <a:rPr sz="19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points</a:t>
            </a:r>
            <a:r>
              <a:rPr sz="19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like</a:t>
            </a:r>
            <a:r>
              <a:rPr sz="19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19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Arial MT"/>
                <a:cs typeface="Arial MT"/>
              </a:rPr>
              <a:t>sites;</a:t>
            </a:r>
            <a:endParaRPr sz="1900">
              <a:latin typeface="Arial MT"/>
              <a:cs typeface="Arial MT"/>
            </a:endParaRPr>
          </a:p>
          <a:p>
            <a:pPr marL="697865" lvl="1" indent="-227965">
              <a:lnSpc>
                <a:spcPts val="2190"/>
              </a:lnSpc>
              <a:spcBef>
                <a:spcPts val="720"/>
              </a:spcBef>
              <a:buChar char="•"/>
              <a:tabLst>
                <a:tab pos="697865" algn="l"/>
              </a:tabLst>
            </a:pPr>
            <a:r>
              <a:rPr sz="1900" spc="-80" dirty="0">
                <a:solidFill>
                  <a:srgbClr val="292929"/>
                </a:solidFill>
                <a:latin typeface="Arial MT"/>
                <a:cs typeface="Arial MT"/>
              </a:rPr>
              <a:t>Circles</a:t>
            </a:r>
            <a:r>
              <a:rPr sz="19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Arial MT"/>
                <a:cs typeface="Arial MT"/>
              </a:rPr>
              <a:t>indicate</a:t>
            </a:r>
            <a:r>
              <a:rPr sz="19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Arial MT"/>
                <a:cs typeface="Arial MT"/>
              </a:rPr>
              <a:t>highlighted</a:t>
            </a:r>
            <a:r>
              <a:rPr sz="190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292929"/>
                </a:solidFill>
                <a:latin typeface="Arial MT"/>
                <a:cs typeface="Arial MT"/>
              </a:rPr>
              <a:t>areas</a:t>
            </a:r>
            <a:r>
              <a:rPr sz="19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Arial MT"/>
                <a:cs typeface="Arial MT"/>
              </a:rPr>
              <a:t>around</a:t>
            </a:r>
            <a:r>
              <a:rPr sz="19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Arial MT"/>
                <a:cs typeface="Arial MT"/>
              </a:rPr>
              <a:t>specific</a:t>
            </a:r>
            <a:r>
              <a:rPr sz="19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Arial MT"/>
                <a:cs typeface="Arial MT"/>
              </a:rPr>
              <a:t>coordinates,</a:t>
            </a:r>
            <a:r>
              <a:rPr sz="19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like</a:t>
            </a:r>
            <a:r>
              <a:rPr sz="1900" spc="4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90" dirty="0">
                <a:solidFill>
                  <a:srgbClr val="292929"/>
                </a:solidFill>
                <a:latin typeface="Arial MT"/>
                <a:cs typeface="Arial MT"/>
              </a:rPr>
              <a:t>NASAJohnson</a:t>
            </a:r>
            <a:r>
              <a:rPr sz="19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Arial MT"/>
                <a:cs typeface="Arial MT"/>
              </a:rPr>
              <a:t>Space</a:t>
            </a:r>
            <a:endParaRPr sz="1900">
              <a:latin typeface="Arial MT"/>
              <a:cs typeface="Arial MT"/>
            </a:endParaRPr>
          </a:p>
          <a:p>
            <a:pPr marL="698500">
              <a:lnSpc>
                <a:spcPts val="2190"/>
              </a:lnSpc>
            </a:pPr>
            <a:r>
              <a:rPr sz="1900" spc="-10" dirty="0">
                <a:solidFill>
                  <a:srgbClr val="292929"/>
                </a:solidFill>
                <a:latin typeface="Arial MT"/>
                <a:cs typeface="Arial MT"/>
              </a:rPr>
              <a:t>Center;</a:t>
            </a:r>
            <a:endParaRPr sz="1900">
              <a:latin typeface="Arial MT"/>
              <a:cs typeface="Arial MT"/>
            </a:endParaRPr>
          </a:p>
          <a:p>
            <a:pPr marL="698500" marR="226695" lvl="1" indent="-228600">
              <a:lnSpc>
                <a:spcPts val="2100"/>
              </a:lnSpc>
              <a:spcBef>
                <a:spcPts val="940"/>
              </a:spcBef>
              <a:buChar char="•"/>
              <a:tabLst>
                <a:tab pos="698500" algn="l"/>
              </a:tabLst>
            </a:pPr>
            <a:r>
              <a:rPr sz="1900" spc="-50" dirty="0">
                <a:solidFill>
                  <a:srgbClr val="292929"/>
                </a:solidFill>
                <a:latin typeface="Arial MT"/>
                <a:cs typeface="Arial MT"/>
              </a:rPr>
              <a:t>Marker</a:t>
            </a:r>
            <a:r>
              <a:rPr sz="19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Arial MT"/>
                <a:cs typeface="Arial MT"/>
              </a:rPr>
              <a:t>clusters</a:t>
            </a:r>
            <a:r>
              <a:rPr sz="19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50" dirty="0">
                <a:solidFill>
                  <a:srgbClr val="292929"/>
                </a:solidFill>
                <a:latin typeface="Arial MT"/>
                <a:cs typeface="Arial MT"/>
              </a:rPr>
              <a:t>indicates</a:t>
            </a:r>
            <a:r>
              <a:rPr sz="19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292929"/>
                </a:solidFill>
                <a:latin typeface="Arial MT"/>
                <a:cs typeface="Arial MT"/>
              </a:rPr>
              <a:t>groups</a:t>
            </a:r>
            <a:r>
              <a:rPr sz="19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9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Arial MT"/>
                <a:cs typeface="Arial MT"/>
              </a:rPr>
              <a:t>events</a:t>
            </a:r>
            <a:r>
              <a:rPr sz="19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9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95" dirty="0">
                <a:solidFill>
                  <a:srgbClr val="292929"/>
                </a:solidFill>
                <a:latin typeface="Arial MT"/>
                <a:cs typeface="Arial MT"/>
              </a:rPr>
              <a:t>each</a:t>
            </a:r>
            <a:r>
              <a:rPr sz="19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Arial MT"/>
                <a:cs typeface="Arial MT"/>
              </a:rPr>
              <a:t>coordinate,</a:t>
            </a:r>
            <a:r>
              <a:rPr sz="19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like</a:t>
            </a:r>
            <a:r>
              <a:rPr sz="19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85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19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900" spc="-20" dirty="0">
                <a:solidFill>
                  <a:srgbClr val="292929"/>
                </a:solidFill>
                <a:latin typeface="Arial MT"/>
                <a:cs typeface="Arial MT"/>
              </a:rPr>
              <a:t> a</a:t>
            </a:r>
            <a:r>
              <a:rPr sz="19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4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19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Arial MT"/>
                <a:cs typeface="Arial MT"/>
              </a:rPr>
              <a:t>site; </a:t>
            </a:r>
            <a:r>
              <a:rPr sz="1900" spc="-2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endParaRPr sz="19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860"/>
              </a:spcBef>
              <a:buChar char="•"/>
              <a:tabLst>
                <a:tab pos="697865" algn="l"/>
              </a:tabLst>
            </a:pPr>
            <a:r>
              <a:rPr sz="1900" spc="-75" dirty="0">
                <a:solidFill>
                  <a:srgbClr val="292929"/>
                </a:solidFill>
                <a:latin typeface="Arial MT"/>
                <a:cs typeface="Arial MT"/>
              </a:rPr>
              <a:t>Lines</a:t>
            </a:r>
            <a:r>
              <a:rPr sz="19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60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19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65" dirty="0">
                <a:solidFill>
                  <a:srgbClr val="292929"/>
                </a:solidFill>
                <a:latin typeface="Arial MT"/>
                <a:cs typeface="Arial MT"/>
              </a:rPr>
              <a:t>used</a:t>
            </a:r>
            <a:r>
              <a:rPr sz="19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9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35" dirty="0">
                <a:solidFill>
                  <a:srgbClr val="292929"/>
                </a:solidFill>
                <a:latin typeface="Arial MT"/>
                <a:cs typeface="Arial MT"/>
              </a:rPr>
              <a:t>indicate</a:t>
            </a:r>
            <a:r>
              <a:rPr sz="1900" spc="-45" dirty="0">
                <a:solidFill>
                  <a:srgbClr val="292929"/>
                </a:solidFill>
                <a:latin typeface="Arial MT"/>
                <a:cs typeface="Arial MT"/>
              </a:rPr>
              <a:t> distances</a:t>
            </a:r>
            <a:r>
              <a:rPr sz="1900" spc="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55" dirty="0">
                <a:solidFill>
                  <a:srgbClr val="292929"/>
                </a:solidFill>
                <a:latin typeface="Arial MT"/>
                <a:cs typeface="Arial MT"/>
              </a:rPr>
              <a:t>between</a:t>
            </a:r>
            <a:r>
              <a:rPr sz="19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29"/>
                </a:solidFill>
                <a:latin typeface="Arial MT"/>
                <a:cs typeface="Arial MT"/>
              </a:rPr>
              <a:t>two</a:t>
            </a:r>
            <a:r>
              <a:rPr sz="19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29"/>
                </a:solidFill>
                <a:latin typeface="Arial MT"/>
                <a:cs typeface="Arial MT"/>
              </a:rPr>
              <a:t>coordinates.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5292344"/>
            <a:ext cx="6875145" cy="62478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439"/>
              </a:spcBef>
              <a:buClr>
                <a:srgbClr val="292929"/>
              </a:buClr>
              <a:buFontTx/>
              <a:buChar char="•"/>
              <a:tabLst>
                <a:tab pos="241300" algn="l"/>
              </a:tabLst>
            </a:pPr>
            <a:r>
              <a:rPr lang="en-US"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Source</a:t>
            </a:r>
            <a:r>
              <a:rPr lang="en-US" sz="1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lang="en-US"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code:</a:t>
            </a:r>
            <a:r>
              <a:rPr lang="en-US" sz="14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400" u="sng" spc="-2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https://github.com</a:t>
            </a:r>
            <a:r>
              <a:rPr lang="en-US" sz="1400" u="sng" spc="-20" dirty="0">
                <a:solidFill>
                  <a:schemeClr val="tx2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/</a:t>
            </a:r>
            <a:r>
              <a:rPr lang="en-US" sz="1400" dirty="0">
                <a:solidFill>
                  <a:schemeClr val="tx2"/>
                </a:solidFill>
                <a:hlinkClick r:id="rId3"/>
              </a:rPr>
              <a:t>tlmagagula24/</a:t>
            </a:r>
            <a:r>
              <a:rPr lang="en-US" sz="1400" dirty="0">
                <a:solidFill>
                  <a:schemeClr val="tx2"/>
                </a:solidFill>
              </a:rPr>
              <a:t> winning space race-</a:t>
            </a:r>
            <a:r>
              <a:rPr lang="en-US" sz="1400" spc="-10" dirty="0">
                <a:solidFill>
                  <a:srgbClr val="0461C1"/>
                </a:solidFill>
                <a:latin typeface="Arial MT"/>
                <a:cs typeface="Arial MT"/>
              </a:rPr>
              <a:t> </a:t>
            </a:r>
            <a:r>
              <a:rPr lang="en-US"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Project/blob/main/Data%20Collection%20API.ipynb</a:t>
            </a:r>
            <a:endParaRPr lang="en-US" sz="1400" dirty="0">
              <a:latin typeface="Arial MT"/>
              <a:cs typeface="Arial MT"/>
            </a:endParaRPr>
          </a:p>
          <a:p>
            <a:pPr marL="241300" marR="5080" indent="-228600">
              <a:lnSpc>
                <a:spcPct val="80000"/>
              </a:lnSpc>
              <a:spcBef>
                <a:spcPts val="439"/>
              </a:spcBef>
              <a:buClr>
                <a:srgbClr val="292929"/>
              </a:buClr>
              <a:buChar char="•"/>
              <a:tabLst>
                <a:tab pos="241300" algn="l"/>
              </a:tabLst>
            </a:pP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349"/>
            <a:ext cx="734250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76620" algn="l"/>
              </a:tabLst>
            </a:pPr>
            <a:r>
              <a:rPr spc="-20" dirty="0"/>
              <a:t>Build</a:t>
            </a:r>
            <a:r>
              <a:rPr spc="-185" dirty="0"/>
              <a:t> </a:t>
            </a:r>
            <a:r>
              <a:rPr spc="-120" dirty="0"/>
              <a:t>an</a:t>
            </a:r>
            <a:r>
              <a:rPr spc="-335" dirty="0"/>
              <a:t> </a:t>
            </a:r>
            <a:r>
              <a:rPr spc="-85" dirty="0"/>
              <a:t>Interactive</a:t>
            </a:r>
            <a:r>
              <a:rPr spc="-155" dirty="0"/>
              <a:t> </a:t>
            </a:r>
            <a:r>
              <a:rPr spc="-125" dirty="0"/>
              <a:t>Map</a:t>
            </a:r>
            <a:r>
              <a:rPr spc="-285" dirty="0"/>
              <a:t> </a:t>
            </a:r>
            <a:r>
              <a:rPr spc="-20" dirty="0"/>
              <a:t>with</a:t>
            </a:r>
            <a:r>
              <a:rPr dirty="0"/>
              <a:t>	</a:t>
            </a:r>
            <a:r>
              <a:rPr spc="-70" dirty="0"/>
              <a:t>Folium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9135745" cy="2448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following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graphs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used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visualize</a:t>
            </a:r>
            <a:r>
              <a:rPr sz="2200" spc="229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endParaRPr sz="22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20"/>
              </a:spcBef>
              <a:buChar char="•"/>
              <a:tabLst>
                <a:tab pos="697865" algn="l"/>
              </a:tabLst>
            </a:pP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Percentage</a:t>
            </a:r>
            <a:r>
              <a:rPr sz="18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8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18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1800" spc="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endParaRPr sz="18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395"/>
              </a:spcBef>
              <a:buChar char="•"/>
              <a:tabLst>
                <a:tab pos="697865" algn="l"/>
              </a:tabLst>
            </a:pPr>
            <a:r>
              <a:rPr sz="1800" spc="-7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8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range</a:t>
            </a:r>
            <a:endParaRPr sz="1800">
              <a:latin typeface="Arial MT"/>
              <a:cs typeface="Arial MT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385"/>
              </a:spcBef>
              <a:buChar char="•"/>
              <a:tabLst>
                <a:tab pos="241300" algn="l"/>
              </a:tabLst>
            </a:pP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This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combination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allowed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quickly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analyze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relation</a:t>
            </a:r>
            <a:r>
              <a:rPr sz="2200" spc="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between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payloads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sites,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helping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identify</a:t>
            </a:r>
            <a:r>
              <a:rPr sz="22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where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place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according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payloads.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5181600"/>
            <a:ext cx="8051800" cy="671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spcBef>
                <a:spcPts val="100"/>
              </a:spcBef>
              <a:buClr>
                <a:srgbClr val="292929"/>
              </a:buClr>
              <a:buFontTx/>
              <a:buChar char="•"/>
              <a:tabLst>
                <a:tab pos="240665" algn="l"/>
              </a:tabLst>
            </a:pPr>
            <a:r>
              <a:rPr lang="en-US"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Source</a:t>
            </a:r>
            <a:r>
              <a:rPr lang="en-US" sz="14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lang="en-US"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code:</a:t>
            </a:r>
            <a:r>
              <a:rPr lang="en-US" sz="1400" spc="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lang="en-US" sz="1400" u="sng" spc="-2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https://github.com</a:t>
            </a:r>
            <a:r>
              <a:rPr lang="en-US" sz="1400" u="sng" spc="-20" dirty="0">
                <a:solidFill>
                  <a:schemeClr val="tx2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  <a:hlinkClick r:id="rId3"/>
              </a:rPr>
              <a:t>/</a:t>
            </a:r>
            <a:r>
              <a:rPr lang="en-US" sz="1400" dirty="0">
                <a:solidFill>
                  <a:schemeClr val="tx2"/>
                </a:solidFill>
                <a:hlinkClick r:id="rId3"/>
              </a:rPr>
              <a:t>tlmagagula24/</a:t>
            </a:r>
            <a:r>
              <a:rPr lang="en-US" sz="1400" dirty="0">
                <a:solidFill>
                  <a:schemeClr val="tx2"/>
                </a:solidFill>
              </a:rPr>
              <a:t> winning space race-</a:t>
            </a:r>
            <a:r>
              <a:rPr lang="en-US" sz="1400" spc="-10" dirty="0">
                <a:solidFill>
                  <a:srgbClr val="0461C1"/>
                </a:solidFill>
                <a:latin typeface="Arial MT"/>
                <a:cs typeface="Arial MT"/>
              </a:rPr>
              <a:t> </a:t>
            </a:r>
            <a:r>
              <a:rPr lang="en-US"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Project/blob/main/Data%20Collection%20API.ipynb</a:t>
            </a:r>
            <a:endParaRPr lang="en-US" sz="14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240665" algn="l"/>
              </a:tabLst>
            </a:pPr>
            <a:endParaRPr sz="1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705739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Build</a:t>
            </a:r>
            <a:r>
              <a:rPr spc="-240" dirty="0"/>
              <a:t> </a:t>
            </a:r>
            <a:r>
              <a:rPr spc="-30" dirty="0"/>
              <a:t>a</a:t>
            </a:r>
            <a:r>
              <a:rPr spc="-495" dirty="0"/>
              <a:t> </a:t>
            </a:r>
            <a:r>
              <a:rPr spc="-110" dirty="0"/>
              <a:t>Dashboard</a:t>
            </a:r>
            <a:r>
              <a:rPr spc="-180" dirty="0"/>
              <a:t> </a:t>
            </a:r>
            <a:r>
              <a:rPr dirty="0"/>
              <a:t>with</a:t>
            </a:r>
            <a:r>
              <a:rPr spc="-120" dirty="0"/>
              <a:t> </a:t>
            </a:r>
            <a:r>
              <a:rPr spc="-10" dirty="0"/>
              <a:t>Plotly</a:t>
            </a:r>
            <a:r>
              <a:rPr spc="-80" dirty="0"/>
              <a:t> </a:t>
            </a:r>
            <a:r>
              <a:rPr spc="-40" dirty="0"/>
              <a:t>Dash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93319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Four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classification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models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compared: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logistic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regression,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support</a:t>
            </a:r>
            <a:r>
              <a:rPr sz="22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vector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machine,</a:t>
            </a:r>
            <a:r>
              <a:rPr sz="22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decision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tree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k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nearest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neighbors.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64" y="5259451"/>
            <a:ext cx="9698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292929"/>
              </a:buClr>
              <a:buChar char="•"/>
              <a:tabLst>
                <a:tab pos="240665" algn="l"/>
              </a:tabLst>
            </a:pPr>
            <a:r>
              <a:rPr sz="1400" u="sng" spc="-5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Source</a:t>
            </a:r>
            <a:r>
              <a:rPr sz="14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400" u="sng" spc="-4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code:</a:t>
            </a:r>
            <a:r>
              <a:rPr sz="1400" spc="1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400" u="sng" spc="-3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https://github.com/SouRitra01/IBM-Data-Science-</a:t>
            </a:r>
            <a:r>
              <a:rPr sz="1400" u="sng" spc="-10" dirty="0">
                <a:solidFill>
                  <a:srgbClr val="0461C1"/>
                </a:solidFill>
                <a:uFill>
                  <a:solidFill>
                    <a:srgbClr val="0461C1"/>
                  </a:solidFill>
                </a:uFill>
                <a:latin typeface="Arial MT"/>
                <a:cs typeface="Arial MT"/>
              </a:rPr>
              <a:t>Project/blob/main/Machine%20Learning%20Prediction.ipynb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Predictive</a:t>
            </a:r>
            <a:r>
              <a:rPr spc="-175" dirty="0"/>
              <a:t> </a:t>
            </a:r>
            <a:r>
              <a:rPr spc="-100" dirty="0"/>
              <a:t>Analysis</a:t>
            </a:r>
            <a:r>
              <a:rPr spc="-85" dirty="0"/>
              <a:t> </a:t>
            </a:r>
            <a:r>
              <a:rPr spc="-95" dirty="0"/>
              <a:t>(Classification)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60" y="3169920"/>
            <a:ext cx="2513076" cy="15209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02232" y="3398265"/>
            <a:ext cx="1916430" cy="97028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065" marR="5080" algn="ctr">
              <a:lnSpc>
                <a:spcPct val="91000"/>
              </a:lnSpc>
              <a:spcBef>
                <a:spcPts val="330"/>
              </a:spcBef>
            </a:pP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preparation and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standardization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1691" y="3607308"/>
            <a:ext cx="557784" cy="647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6928" y="3169920"/>
            <a:ext cx="2514600" cy="15209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77334" y="3242310"/>
            <a:ext cx="2123440" cy="12858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065" marR="5080" indent="-635" algn="ctr">
              <a:lnSpc>
                <a:spcPct val="92000"/>
              </a:lnSpc>
              <a:spcBef>
                <a:spcPts val="305"/>
              </a:spcBef>
            </a:pPr>
            <a:r>
              <a:rPr sz="2200" spc="-114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2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model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combinations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hyperparameters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9459" y="3607308"/>
            <a:ext cx="556259" cy="6477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53171" y="3169920"/>
            <a:ext cx="2516124" cy="152095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272018" y="3551631"/>
            <a:ext cx="166814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Comparison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  <a:p>
            <a:pPr marL="17780" algn="ctr">
              <a:lnSpc>
                <a:spcPts val="2520"/>
              </a:lnSpc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9683" y="1816354"/>
            <a:ext cx="10045700" cy="3736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Exploratory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analysis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results:</a:t>
            </a:r>
            <a:endParaRPr sz="22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15"/>
              </a:spcBef>
              <a:buChar char="•"/>
              <a:tabLst>
                <a:tab pos="697865" algn="l"/>
              </a:tabLst>
            </a:pPr>
            <a:r>
              <a:rPr sz="1600" spc="-95" dirty="0">
                <a:solidFill>
                  <a:srgbClr val="292929"/>
                </a:solidFill>
                <a:latin typeface="Arial MT"/>
                <a:cs typeface="Arial MT"/>
              </a:rPr>
              <a:t>Space</a:t>
            </a:r>
            <a:r>
              <a:rPr sz="16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30" dirty="0">
                <a:solidFill>
                  <a:srgbClr val="292929"/>
                </a:solidFill>
                <a:latin typeface="Arial MT"/>
                <a:cs typeface="Arial MT"/>
              </a:rPr>
              <a:t>Xuses</a:t>
            </a:r>
            <a:r>
              <a:rPr sz="16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4</a:t>
            </a:r>
            <a:r>
              <a:rPr sz="1600" spc="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different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1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sites;</a:t>
            </a:r>
            <a:endParaRPr sz="1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600" spc="-8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6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16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75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16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16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35" dirty="0">
                <a:solidFill>
                  <a:srgbClr val="292929"/>
                </a:solidFill>
                <a:latin typeface="Arial MT"/>
                <a:cs typeface="Arial MT"/>
              </a:rPr>
              <a:t>done</a:t>
            </a:r>
            <a:r>
              <a:rPr sz="16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1600" spc="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solidFill>
                  <a:srgbClr val="292929"/>
                </a:solidFill>
                <a:latin typeface="Arial MT"/>
                <a:cs typeface="Arial MT"/>
              </a:rPr>
              <a:t>Space</a:t>
            </a:r>
            <a:r>
              <a:rPr sz="16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Xitself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NASA;</a:t>
            </a:r>
            <a:endParaRPr sz="1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600" spc="-8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600" spc="-2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60" dirty="0">
                <a:solidFill>
                  <a:srgbClr val="292929"/>
                </a:solidFill>
                <a:latin typeface="Arial MT"/>
                <a:cs typeface="Arial MT"/>
              </a:rPr>
              <a:t>average</a:t>
            </a:r>
            <a:r>
              <a:rPr sz="16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of F9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v1.1</a:t>
            </a:r>
            <a:r>
              <a:rPr sz="16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16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1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2,928</a:t>
            </a:r>
            <a:r>
              <a:rPr sz="1600" spc="4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Arial MT"/>
                <a:cs typeface="Arial MT"/>
              </a:rPr>
              <a:t>kg;</a:t>
            </a:r>
            <a:endParaRPr sz="1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395"/>
              </a:spcBef>
              <a:buChar char="•"/>
              <a:tabLst>
                <a:tab pos="697865" algn="l"/>
              </a:tabLst>
            </a:pPr>
            <a:r>
              <a:rPr sz="1600" spc="-8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600" spc="-2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1600" spc="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95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16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16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outcome </a:t>
            </a:r>
            <a:r>
              <a:rPr sz="1600" spc="-50" dirty="0">
                <a:solidFill>
                  <a:srgbClr val="292929"/>
                </a:solidFill>
                <a:latin typeface="Arial MT"/>
                <a:cs typeface="Arial MT"/>
              </a:rPr>
              <a:t>happened</a:t>
            </a:r>
            <a:r>
              <a:rPr sz="16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6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2015</a:t>
            </a:r>
            <a:r>
              <a:rPr sz="1600" spc="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fiver</a:t>
            </a:r>
            <a:r>
              <a:rPr sz="16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year</a:t>
            </a:r>
            <a:r>
              <a:rPr sz="1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92929"/>
                </a:solidFill>
                <a:latin typeface="Arial MT"/>
                <a:cs typeface="Arial MT"/>
              </a:rPr>
              <a:t>after</a:t>
            </a:r>
            <a:r>
              <a:rPr sz="16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1600" spc="4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launch;</a:t>
            </a:r>
            <a:endParaRPr sz="1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00"/>
              </a:spcBef>
              <a:buChar char="•"/>
              <a:tabLst>
                <a:tab pos="697865" algn="l"/>
              </a:tabLst>
            </a:pPr>
            <a:r>
              <a:rPr sz="1600" spc="-75" dirty="0">
                <a:solidFill>
                  <a:srgbClr val="292929"/>
                </a:solidFill>
                <a:latin typeface="Arial MT"/>
                <a:cs typeface="Arial MT"/>
              </a:rPr>
              <a:t>Many</a:t>
            </a:r>
            <a:r>
              <a:rPr sz="16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Falcon</a:t>
            </a:r>
            <a:r>
              <a:rPr sz="16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9</a:t>
            </a:r>
            <a:r>
              <a:rPr sz="1600" spc="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292929"/>
                </a:solidFill>
                <a:latin typeface="Arial MT"/>
                <a:cs typeface="Arial MT"/>
              </a:rPr>
              <a:t>versions</a:t>
            </a:r>
            <a:r>
              <a:rPr sz="16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1600" spc="-75" dirty="0">
                <a:solidFill>
                  <a:srgbClr val="292929"/>
                </a:solidFill>
                <a:latin typeface="Arial MT"/>
                <a:cs typeface="Arial MT"/>
              </a:rPr>
              <a:t> successful</a:t>
            </a:r>
            <a:r>
              <a:rPr sz="16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16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16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6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drone</a:t>
            </a:r>
            <a:r>
              <a:rPr sz="16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292929"/>
                </a:solidFill>
                <a:latin typeface="Arial MT"/>
                <a:cs typeface="Arial MT"/>
              </a:rPr>
              <a:t>ships</a:t>
            </a:r>
            <a:r>
              <a:rPr sz="16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292929"/>
                </a:solidFill>
                <a:latin typeface="Arial MT"/>
                <a:cs typeface="Arial MT"/>
              </a:rPr>
              <a:t>having</a:t>
            </a:r>
            <a:r>
              <a:rPr sz="16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4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16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292929"/>
                </a:solidFill>
                <a:latin typeface="Arial MT"/>
                <a:cs typeface="Arial MT"/>
              </a:rPr>
              <a:t>above</a:t>
            </a:r>
            <a:r>
              <a:rPr sz="1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600" spc="3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average;</a:t>
            </a:r>
            <a:endParaRPr sz="1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600" spc="-30" dirty="0">
                <a:solidFill>
                  <a:srgbClr val="292929"/>
                </a:solidFill>
                <a:latin typeface="Arial MT"/>
                <a:cs typeface="Arial MT"/>
              </a:rPr>
              <a:t>Almost</a:t>
            </a:r>
            <a:r>
              <a:rPr sz="16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100%</a:t>
            </a:r>
            <a:r>
              <a:rPr sz="1600" spc="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600" spc="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292929"/>
                </a:solidFill>
                <a:latin typeface="Arial MT"/>
                <a:cs typeface="Arial MT"/>
              </a:rPr>
              <a:t>mission</a:t>
            </a:r>
            <a:r>
              <a:rPr sz="16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16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3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16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successful;</a:t>
            </a:r>
            <a:endParaRPr sz="1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395"/>
              </a:spcBef>
              <a:buChar char="•"/>
              <a:tabLst>
                <a:tab pos="697865" algn="l"/>
              </a:tabLst>
            </a:pPr>
            <a:r>
              <a:rPr sz="1600" spc="-85" dirty="0">
                <a:solidFill>
                  <a:srgbClr val="292929"/>
                </a:solidFill>
                <a:latin typeface="Arial MT"/>
                <a:cs typeface="Arial MT"/>
              </a:rPr>
              <a:t>Two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booster </a:t>
            </a:r>
            <a:r>
              <a:rPr sz="1600" spc="-40" dirty="0">
                <a:solidFill>
                  <a:srgbClr val="292929"/>
                </a:solidFill>
                <a:latin typeface="Arial MT"/>
                <a:cs typeface="Arial MT"/>
              </a:rPr>
              <a:t>versions</a:t>
            </a:r>
            <a:r>
              <a:rPr sz="16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failed</a:t>
            </a:r>
            <a:r>
              <a:rPr sz="16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16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16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6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drone </a:t>
            </a:r>
            <a:r>
              <a:rPr sz="1600" spc="-30" dirty="0">
                <a:solidFill>
                  <a:srgbClr val="292929"/>
                </a:solidFill>
                <a:latin typeface="Arial MT"/>
                <a:cs typeface="Arial MT"/>
              </a:rPr>
              <a:t>ships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16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2015:</a:t>
            </a:r>
            <a:r>
              <a:rPr sz="1600" spc="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F9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v1.1 B1012</a:t>
            </a:r>
            <a:r>
              <a:rPr sz="1600" spc="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F9</a:t>
            </a:r>
            <a:r>
              <a:rPr sz="16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v1.1</a:t>
            </a:r>
            <a:r>
              <a:rPr sz="16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B1015;</a:t>
            </a:r>
            <a:endParaRPr sz="16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600" spc="-8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1600" spc="-2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292929"/>
                </a:solidFill>
                <a:latin typeface="Arial MT"/>
                <a:cs typeface="Arial MT"/>
              </a:rPr>
              <a:t>number</a:t>
            </a:r>
            <a:r>
              <a:rPr sz="16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16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16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55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16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80" dirty="0">
                <a:solidFill>
                  <a:srgbClr val="292929"/>
                </a:solidFill>
                <a:latin typeface="Arial MT"/>
                <a:cs typeface="Arial MT"/>
              </a:rPr>
              <a:t>became</a:t>
            </a:r>
            <a:r>
              <a:rPr sz="16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65" dirty="0">
                <a:solidFill>
                  <a:srgbClr val="292929"/>
                </a:solidFill>
                <a:latin typeface="Arial MT"/>
                <a:cs typeface="Arial MT"/>
              </a:rPr>
              <a:t>as</a:t>
            </a:r>
            <a:r>
              <a:rPr sz="16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29"/>
                </a:solidFill>
                <a:latin typeface="Arial MT"/>
                <a:cs typeface="Arial MT"/>
              </a:rPr>
              <a:t>better</a:t>
            </a:r>
            <a:r>
              <a:rPr sz="16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65" dirty="0">
                <a:solidFill>
                  <a:srgbClr val="292929"/>
                </a:solidFill>
                <a:latin typeface="Arial MT"/>
                <a:cs typeface="Arial MT"/>
              </a:rPr>
              <a:t>as</a:t>
            </a:r>
            <a:r>
              <a:rPr sz="16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65" dirty="0">
                <a:solidFill>
                  <a:srgbClr val="292929"/>
                </a:solidFill>
                <a:latin typeface="Arial MT"/>
                <a:cs typeface="Arial MT"/>
              </a:rPr>
              <a:t>years</a:t>
            </a:r>
            <a:r>
              <a:rPr sz="16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92929"/>
                </a:solidFill>
                <a:latin typeface="Arial MT"/>
                <a:cs typeface="Arial MT"/>
              </a:rPr>
              <a:t>passed.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Results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9683" y="1816354"/>
            <a:ext cx="10016490" cy="1209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Using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interactive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analytics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was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possible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identify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that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sites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use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be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in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safety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places,</a:t>
            </a:r>
            <a:r>
              <a:rPr sz="2200" spc="-2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near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sea,</a:t>
            </a:r>
            <a:r>
              <a:rPr sz="22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example</a:t>
            </a:r>
            <a:r>
              <a:rPr sz="22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2200" spc="-1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good</a:t>
            </a:r>
            <a:r>
              <a:rPr sz="22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logistic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infrastructure</a:t>
            </a:r>
            <a:r>
              <a:rPr sz="2200" spc="3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around.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Most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happens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at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east</a:t>
            </a:r>
            <a:r>
              <a:rPr sz="2200" spc="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cost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sites.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027" y="3517391"/>
            <a:ext cx="4038600" cy="24368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2300" y="3497579"/>
            <a:ext cx="4038600" cy="245668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9683" y="1816354"/>
            <a:ext cx="676592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Predictive</a:t>
            </a:r>
            <a:r>
              <a:rPr sz="22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Analysis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showed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that</a:t>
            </a:r>
            <a:r>
              <a:rPr sz="2200" spc="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Decision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Tree</a:t>
            </a:r>
            <a:r>
              <a:rPr sz="22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Classifier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model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predict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landings,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having 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accuracy</a:t>
            </a:r>
            <a:r>
              <a:rPr sz="2200" spc="-2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87%</a:t>
            </a:r>
            <a:r>
              <a:rPr sz="2200" spc="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accuracy</a:t>
            </a:r>
            <a:r>
              <a:rPr sz="22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test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data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over 94%.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Results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9331" y="2961132"/>
            <a:ext cx="3675887" cy="26471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87427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457" y="3863416"/>
            <a:ext cx="9168130" cy="17233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According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3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plot</a:t>
            </a:r>
            <a:r>
              <a:rPr sz="2200" spc="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above,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it’s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possible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verify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that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nowadays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CCAF5</a:t>
            </a:r>
            <a:r>
              <a:rPr sz="2200" spc="-3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SLC40,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where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most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recent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successful;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second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place</a:t>
            </a:r>
            <a:r>
              <a:rPr sz="22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VAFB</a:t>
            </a:r>
            <a:r>
              <a:rPr sz="2200" spc="-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SLC4E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third</a:t>
            </a:r>
            <a:r>
              <a:rPr sz="2200" spc="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place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KSCLC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39A;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It’s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also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possible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see</a:t>
            </a:r>
            <a:r>
              <a:rPr sz="22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that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general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200" spc="-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rate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improved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time.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64" y="406349"/>
            <a:ext cx="602996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53990" algn="l"/>
              </a:tabLst>
            </a:pPr>
            <a:r>
              <a:rPr dirty="0"/>
              <a:t>Flight</a:t>
            </a:r>
            <a:r>
              <a:rPr spc="-160" dirty="0"/>
              <a:t> </a:t>
            </a:r>
            <a:r>
              <a:rPr spc="-135" dirty="0"/>
              <a:t>Number</a:t>
            </a:r>
            <a:r>
              <a:rPr spc="-195" dirty="0"/>
              <a:t> </a:t>
            </a:r>
            <a:r>
              <a:rPr spc="-145" dirty="0"/>
              <a:t>vs.</a:t>
            </a:r>
            <a:r>
              <a:rPr spc="-355" dirty="0"/>
              <a:t> </a:t>
            </a:r>
            <a:r>
              <a:rPr spc="-10" dirty="0"/>
              <a:t>Launch</a:t>
            </a:r>
            <a:r>
              <a:rPr dirty="0"/>
              <a:t>	</a:t>
            </a:r>
            <a:r>
              <a:rPr spc="-85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1383791"/>
            <a:ext cx="10576560" cy="23850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5558" y="3952494"/>
            <a:ext cx="9941560" cy="1544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Payloads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9,000kg</a:t>
            </a:r>
            <a:r>
              <a:rPr sz="2200" spc="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(about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weight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school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bus)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excellent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rate;</a:t>
            </a:r>
            <a:endParaRPr sz="2200">
              <a:latin typeface="Arial MT"/>
              <a:cs typeface="Arial MT"/>
            </a:endParaRPr>
          </a:p>
          <a:p>
            <a:pPr marL="241300" marR="80010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241300" algn="l"/>
              </a:tabLst>
            </a:pP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Payloads</a:t>
            </a:r>
            <a:r>
              <a:rPr sz="22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12,000kg</a:t>
            </a:r>
            <a:r>
              <a:rPr sz="2200" spc="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seems</a:t>
            </a:r>
            <a:r>
              <a:rPr sz="2200" spc="-25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be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possible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only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CCAFSSLC40</a:t>
            </a:r>
            <a:r>
              <a:rPr sz="2200" spc="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KSC</a:t>
            </a:r>
            <a:r>
              <a:rPr sz="2200" spc="-2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LC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39A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sites.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473519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Payload</a:t>
            </a:r>
            <a:r>
              <a:rPr spc="-240" dirty="0"/>
              <a:t> </a:t>
            </a:r>
            <a:r>
              <a:rPr spc="-145" dirty="0"/>
              <a:t>vs.</a:t>
            </a:r>
            <a:r>
              <a:rPr spc="-365" dirty="0"/>
              <a:t> </a:t>
            </a:r>
            <a:r>
              <a:rPr spc="-80" dirty="0"/>
              <a:t>Launch</a:t>
            </a:r>
            <a:r>
              <a:rPr spc="-45" dirty="0"/>
              <a:t> </a:t>
            </a:r>
            <a:r>
              <a:rPr spc="-20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427" y="1360932"/>
            <a:ext cx="10677144" cy="23835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77390"/>
            <a:ext cx="5430520" cy="359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2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biggest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200" spc="-2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rates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happens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-229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orbits:</a:t>
            </a:r>
            <a:endParaRPr sz="22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25"/>
              </a:spcBef>
              <a:buChar char="•"/>
              <a:tabLst>
                <a:tab pos="697865" algn="l"/>
              </a:tabLst>
            </a:pPr>
            <a:r>
              <a:rPr sz="1800" spc="-110" dirty="0">
                <a:solidFill>
                  <a:srgbClr val="292929"/>
                </a:solidFill>
                <a:latin typeface="Arial MT"/>
                <a:cs typeface="Arial MT"/>
              </a:rPr>
              <a:t>ES-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L1;</a:t>
            </a:r>
            <a:endParaRPr sz="18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390"/>
              </a:spcBef>
              <a:buChar char="•"/>
              <a:tabLst>
                <a:tab pos="697865" algn="l"/>
              </a:tabLst>
            </a:pP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GEO;</a:t>
            </a:r>
            <a:endParaRPr sz="18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800" spc="-130" dirty="0">
                <a:solidFill>
                  <a:srgbClr val="292929"/>
                </a:solidFill>
                <a:latin typeface="Arial MT"/>
                <a:cs typeface="Arial MT"/>
              </a:rPr>
              <a:t>HEO;</a:t>
            </a:r>
            <a:r>
              <a:rPr sz="18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SSO.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Char char="•"/>
              <a:tabLst>
                <a:tab pos="240665" algn="l"/>
              </a:tabLst>
            </a:pP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Followed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by:</a:t>
            </a:r>
            <a:endParaRPr sz="22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10"/>
              </a:spcBef>
              <a:buChar char="•"/>
              <a:tabLst>
                <a:tab pos="697865" algn="l"/>
              </a:tabLst>
            </a:pPr>
            <a:r>
              <a:rPr sz="1800" spc="-110" dirty="0">
                <a:solidFill>
                  <a:srgbClr val="292929"/>
                </a:solidFill>
                <a:latin typeface="Arial MT"/>
                <a:cs typeface="Arial MT"/>
              </a:rPr>
              <a:t>VLEO</a:t>
            </a:r>
            <a:r>
              <a:rPr sz="1800" spc="-2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(above</a:t>
            </a:r>
            <a:r>
              <a:rPr sz="18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29"/>
                </a:solidFill>
                <a:latin typeface="Arial MT"/>
                <a:cs typeface="Arial MT"/>
              </a:rPr>
              <a:t>80%);</a:t>
            </a:r>
            <a:r>
              <a:rPr sz="1800" spc="-25" dirty="0">
                <a:solidFill>
                  <a:srgbClr val="292929"/>
                </a:solidFill>
                <a:latin typeface="Arial MT"/>
                <a:cs typeface="Arial MT"/>
              </a:rPr>
              <a:t> and</a:t>
            </a:r>
            <a:endParaRPr sz="1800">
              <a:latin typeface="Arial MT"/>
              <a:cs typeface="Arial MT"/>
            </a:endParaRPr>
          </a:p>
          <a:p>
            <a:pPr marL="697865" lvl="1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697865" algn="l"/>
              </a:tabLst>
            </a:pPr>
            <a:r>
              <a:rPr sz="1800" spc="-95" dirty="0">
                <a:solidFill>
                  <a:srgbClr val="292929"/>
                </a:solidFill>
                <a:latin typeface="Arial MT"/>
                <a:cs typeface="Arial MT"/>
              </a:rPr>
              <a:t>LFO</a:t>
            </a:r>
            <a:r>
              <a:rPr sz="1800" spc="-2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75" dirty="0">
                <a:solidFill>
                  <a:srgbClr val="292929"/>
                </a:solidFill>
                <a:latin typeface="Arial MT"/>
                <a:cs typeface="Arial MT"/>
              </a:rPr>
              <a:t>(above</a:t>
            </a:r>
            <a:r>
              <a:rPr sz="1800" spc="-2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Arial MT"/>
                <a:cs typeface="Arial MT"/>
              </a:rPr>
              <a:t>70%).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64" y="406349"/>
            <a:ext cx="534543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45" dirty="0"/>
              <a:t>Success</a:t>
            </a:r>
            <a:r>
              <a:rPr spc="-434" dirty="0"/>
              <a:t> </a:t>
            </a:r>
            <a:r>
              <a:rPr spc="-180" dirty="0"/>
              <a:t>Rate</a:t>
            </a:r>
            <a:r>
              <a:rPr spc="-380" dirty="0"/>
              <a:t> </a:t>
            </a:r>
            <a:r>
              <a:rPr spc="-145" dirty="0"/>
              <a:t>vs.</a:t>
            </a:r>
            <a:r>
              <a:rPr spc="-310" dirty="0"/>
              <a:t> </a:t>
            </a:r>
            <a:r>
              <a:rPr spc="-25" dirty="0"/>
              <a:t>Orbit</a:t>
            </a:r>
            <a:r>
              <a:rPr spc="-655" dirty="0"/>
              <a:t> </a:t>
            </a:r>
            <a:r>
              <a:rPr spc="-55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1919" y="1869948"/>
            <a:ext cx="3543300" cy="2667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4078884"/>
            <a:ext cx="9029065" cy="138811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505"/>
              </a:spcBef>
              <a:buChar char="•"/>
              <a:tabLst>
                <a:tab pos="240665" algn="l"/>
              </a:tabLst>
            </a:pP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Apparently,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rate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improved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time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all</a:t>
            </a:r>
            <a:r>
              <a:rPr sz="2200" spc="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orbits;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Char char="•"/>
              <a:tabLst>
                <a:tab pos="240665" algn="l"/>
              </a:tabLst>
            </a:pP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VLEO</a:t>
            </a:r>
            <a:r>
              <a:rPr sz="2200" spc="-3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orbit</a:t>
            </a:r>
            <a:r>
              <a:rPr sz="2200" spc="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seems</a:t>
            </a:r>
            <a:r>
              <a:rPr sz="2200" spc="-2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new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business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opportunity,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due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recent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increase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its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frequency.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64" y="406349"/>
            <a:ext cx="583311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685" algn="l"/>
              </a:tabLst>
            </a:pPr>
            <a:r>
              <a:rPr dirty="0"/>
              <a:t>Flight</a:t>
            </a:r>
            <a:r>
              <a:rPr spc="-160" dirty="0"/>
              <a:t> </a:t>
            </a:r>
            <a:r>
              <a:rPr spc="-135" dirty="0"/>
              <a:t>Number</a:t>
            </a:r>
            <a:r>
              <a:rPr spc="-195" dirty="0"/>
              <a:t> </a:t>
            </a:r>
            <a:r>
              <a:rPr spc="-145" dirty="0"/>
              <a:t>vs.</a:t>
            </a:r>
            <a:r>
              <a:rPr spc="-355" dirty="0"/>
              <a:t> </a:t>
            </a:r>
            <a:r>
              <a:rPr spc="-10" dirty="0"/>
              <a:t>Orbit</a:t>
            </a:r>
            <a:r>
              <a:rPr dirty="0"/>
              <a:t>	</a:t>
            </a:r>
            <a:r>
              <a:rPr spc="-135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1597152"/>
            <a:ext cx="10687812" cy="23804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3655593"/>
            <a:ext cx="9684385" cy="156654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505"/>
              </a:spcBef>
              <a:buChar char="•"/>
              <a:tabLst>
                <a:tab pos="240665" algn="l"/>
                <a:tab pos="9076690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Apparently,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there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no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relation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between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success</a:t>
            </a:r>
            <a:r>
              <a:rPr sz="2200" spc="-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rate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orbit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170" dirty="0">
                <a:solidFill>
                  <a:srgbClr val="292929"/>
                </a:solidFill>
                <a:latin typeface="Arial MT"/>
                <a:cs typeface="Arial MT"/>
              </a:rPr>
              <a:t>GTO;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Char char="•"/>
              <a:tabLst>
                <a:tab pos="240665" algn="l"/>
              </a:tabLst>
            </a:pP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ISSorbit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has</a:t>
            </a:r>
            <a:r>
              <a:rPr sz="22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widest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range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good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rate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success;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There</a:t>
            </a:r>
            <a:r>
              <a:rPr sz="2200" spc="-2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few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2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orbits</a:t>
            </a:r>
            <a:r>
              <a:rPr sz="2200" spc="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SOand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GEO.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64" y="406349"/>
            <a:ext cx="454533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Payload</a:t>
            </a:r>
            <a:r>
              <a:rPr spc="-240" dirty="0"/>
              <a:t> </a:t>
            </a:r>
            <a:r>
              <a:rPr spc="-145" dirty="0"/>
              <a:t>vs.</a:t>
            </a:r>
            <a:r>
              <a:rPr spc="-365" dirty="0"/>
              <a:t> </a:t>
            </a:r>
            <a:r>
              <a:rPr dirty="0"/>
              <a:t>Orbit</a:t>
            </a:r>
            <a:r>
              <a:rPr spc="480" dirty="0"/>
              <a:t> </a:t>
            </a:r>
            <a:r>
              <a:rPr spc="-75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19" y="1443227"/>
            <a:ext cx="10687812" cy="23820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2078862"/>
            <a:ext cx="5434965" cy="188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200" spc="-3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rate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started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increasing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292929"/>
                </a:solidFill>
                <a:latin typeface="Arial MT"/>
                <a:cs typeface="Arial MT"/>
              </a:rPr>
              <a:t>2013</a:t>
            </a:r>
            <a:r>
              <a:rPr sz="2200" spc="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kept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until</a:t>
            </a:r>
            <a:r>
              <a:rPr sz="2200" spc="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2020;</a:t>
            </a:r>
            <a:endParaRPr sz="2200">
              <a:latin typeface="Arial MT"/>
              <a:cs typeface="Arial MT"/>
            </a:endParaRPr>
          </a:p>
          <a:p>
            <a:pPr marL="241300" marR="468630" indent="-228600">
              <a:lnSpc>
                <a:spcPct val="100000"/>
              </a:lnSpc>
              <a:spcBef>
                <a:spcPts val="1405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It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seems</a:t>
            </a:r>
            <a:r>
              <a:rPr sz="2200" spc="-2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that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three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years</a:t>
            </a:r>
            <a:r>
              <a:rPr sz="2200" spc="-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a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period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adjusts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improvement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of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technology.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570547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Launch</a:t>
            </a:r>
            <a:r>
              <a:rPr spc="-250" dirty="0"/>
              <a:t> </a:t>
            </a:r>
            <a:r>
              <a:rPr spc="-245" dirty="0"/>
              <a:t>Success</a:t>
            </a:r>
            <a:r>
              <a:rPr spc="-440" dirty="0"/>
              <a:t> </a:t>
            </a:r>
            <a:r>
              <a:rPr spc="-145" dirty="0"/>
              <a:t>Yearly</a:t>
            </a:r>
            <a:r>
              <a:rPr spc="-210" dirty="0"/>
              <a:t> </a:t>
            </a:r>
            <a:r>
              <a:rPr spc="-45" dirty="0"/>
              <a:t>Trend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1919" y="2069592"/>
            <a:ext cx="3543300" cy="24947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5846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506476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5</a:t>
            </a:r>
            <a:r>
              <a:rPr sz="2200" spc="2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records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where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sites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begin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`CCA`: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5428284"/>
            <a:ext cx="70446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Here</a:t>
            </a:r>
            <a:r>
              <a:rPr sz="22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we</a:t>
            </a:r>
            <a:r>
              <a:rPr sz="2200" spc="-1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can</a:t>
            </a:r>
            <a:r>
              <a:rPr sz="22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see</a:t>
            </a:r>
            <a:r>
              <a:rPr sz="2200" spc="-2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five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samples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Cape</a:t>
            </a:r>
            <a:r>
              <a:rPr sz="2200" spc="-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Canaveral</a:t>
            </a:r>
            <a:r>
              <a:rPr sz="2200" spc="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launches.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7176134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Launch</a:t>
            </a:r>
            <a:r>
              <a:rPr spc="-290" dirty="0"/>
              <a:t> </a:t>
            </a:r>
            <a:r>
              <a:rPr spc="-105" dirty="0"/>
              <a:t>Site</a:t>
            </a:r>
            <a:r>
              <a:rPr spc="-265" dirty="0"/>
              <a:t> </a:t>
            </a:r>
            <a:r>
              <a:rPr spc="-220" dirty="0"/>
              <a:t>Names</a:t>
            </a:r>
            <a:r>
              <a:rPr spc="-400" dirty="0"/>
              <a:t> </a:t>
            </a:r>
            <a:r>
              <a:rPr spc="-90" dirty="0"/>
              <a:t>Begin</a:t>
            </a:r>
            <a:r>
              <a:rPr spc="-170" dirty="0"/>
              <a:t> </a:t>
            </a:r>
            <a:r>
              <a:rPr dirty="0"/>
              <a:t>with</a:t>
            </a:r>
            <a:r>
              <a:rPr spc="250" dirty="0"/>
              <a:t> </a:t>
            </a:r>
            <a:r>
              <a:rPr spc="-114" dirty="0"/>
              <a:t>'CCA'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7313" y="2277745"/>
          <a:ext cx="10627356" cy="2995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8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23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2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UTC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892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Booster Version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Launch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19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Payload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Mass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Orbit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Customer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1219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Mission Outcome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4425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Landing Outcome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2010-06-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18:45:00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v1.0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B0003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CCA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FS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676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Dragon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Spacecraft Qualification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Unit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LEO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SpaceX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Success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 marR="40195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Failure (parachute)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2010-12-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15:43:00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v1.0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B0004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09855" algn="ctr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CCA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FS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85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Dragon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demo</a:t>
                      </a:r>
                      <a:r>
                        <a:rPr sz="12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flight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C1,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CubeSats,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barrel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Brouere cheese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LEO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(ISS)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345" marR="17018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NASA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(COTS)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NRO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Success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 marR="40068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Failure (parachute)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2012-05-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07:44:00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v1.0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B0005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R="109220"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CCA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FS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Dragon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demo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flight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C2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525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LEO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(ISS)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NASA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(COTS)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Success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attempt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2012-10-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00:35:00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v1.0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B0006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CCA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FS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SpaceX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CRS-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LEO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(ISS)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NASA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(CRS)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Success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attempt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2013-03-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01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15:10:00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v1.0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B0007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CCA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FS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SpaceX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CRS-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677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LEO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(ISS)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NASA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(CRS)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Success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attemp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56356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According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data,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there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four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sites: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4914391"/>
            <a:ext cx="89338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They</a:t>
            </a:r>
            <a:r>
              <a:rPr sz="2200" spc="-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obtained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selecting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unique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occurrences</a:t>
            </a:r>
            <a:r>
              <a:rPr sz="22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“launch_site”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values from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dataset.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449897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All</a:t>
            </a:r>
            <a:r>
              <a:rPr spc="-250" dirty="0"/>
              <a:t> </a:t>
            </a:r>
            <a:r>
              <a:rPr spc="-160" dirty="0"/>
              <a:t>Launch</a:t>
            </a:r>
            <a:r>
              <a:rPr spc="-305" dirty="0"/>
              <a:t> </a:t>
            </a:r>
            <a:r>
              <a:rPr dirty="0"/>
              <a:t>Site</a:t>
            </a:r>
            <a:r>
              <a:rPr spc="55" dirty="0"/>
              <a:t> </a:t>
            </a:r>
            <a:r>
              <a:rPr spc="-155" dirty="0"/>
              <a:t>Names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24253" y="2616835"/>
          <a:ext cx="1983105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Launch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CCAFS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CCAFS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SLC-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KSC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39A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VAFB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SLC-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4E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5677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4914265" algn="l"/>
              </a:tabLst>
            </a:pP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Total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carried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boosters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NASA: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4401439"/>
            <a:ext cx="86118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Total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calculated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above,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summing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all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payloads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whose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codes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contain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‘CRS’,</a:t>
            </a:r>
            <a:r>
              <a:rPr sz="2200" spc="-3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which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corresponds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2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NASA.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389890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Total</a:t>
            </a:r>
            <a:r>
              <a:rPr spc="-175" dirty="0"/>
              <a:t> </a:t>
            </a:r>
            <a:r>
              <a:rPr spc="-110" dirty="0"/>
              <a:t>Payload</a:t>
            </a:r>
            <a:r>
              <a:rPr spc="-100" dirty="0"/>
              <a:t> </a:t>
            </a:r>
            <a:r>
              <a:rPr spc="-135" dirty="0"/>
              <a:t>Mass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63700" y="2802254"/>
          <a:ext cx="1881505" cy="741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1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Payload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(kg)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111.268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71494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Average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r>
              <a:rPr sz="2200" spc="-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carried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version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F9</a:t>
            </a:r>
            <a:r>
              <a:rPr sz="2200" spc="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v1.1: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4914391"/>
            <a:ext cx="87585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Filtering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version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above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calculating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average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r>
              <a:rPr sz="22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we</a:t>
            </a:r>
            <a:r>
              <a:rPr sz="2200" spc="-1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obtained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value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2,928</a:t>
            </a:r>
            <a:r>
              <a:rPr sz="2200" spc="3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kg.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Average</a:t>
            </a:r>
            <a:r>
              <a:rPr spc="-240" dirty="0"/>
              <a:t> </a:t>
            </a:r>
            <a:r>
              <a:rPr spc="-140" dirty="0"/>
              <a:t>Payload</a:t>
            </a:r>
            <a:r>
              <a:rPr spc="-240" dirty="0"/>
              <a:t> </a:t>
            </a:r>
            <a:r>
              <a:rPr spc="-204" dirty="0"/>
              <a:t>Mass</a:t>
            </a:r>
            <a:r>
              <a:rPr spc="-440" dirty="0"/>
              <a:t> </a:t>
            </a:r>
            <a:r>
              <a:rPr dirty="0"/>
              <a:t>by</a:t>
            </a:r>
            <a:r>
              <a:rPr spc="-220" dirty="0"/>
              <a:t> </a:t>
            </a:r>
            <a:r>
              <a:rPr dirty="0"/>
              <a:t>F9</a:t>
            </a:r>
            <a:r>
              <a:rPr spc="30" dirty="0"/>
              <a:t> </a:t>
            </a:r>
            <a:r>
              <a:rPr spc="-20" dirty="0"/>
              <a:t>v1.1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63700" y="3045460"/>
          <a:ext cx="2043430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r>
                        <a:rPr sz="1800" b="1" spc="-10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(kg)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2.928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6040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5513070" algn="l"/>
              </a:tabLst>
            </a:pP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outcome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ground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pad: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4914391"/>
            <a:ext cx="914400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filtering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data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outcome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ground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pad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getting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minimum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value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date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it’s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possible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identify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first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occurrence,</a:t>
            </a:r>
            <a:r>
              <a:rPr sz="22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that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happened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200" spc="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292929"/>
                </a:solidFill>
                <a:latin typeface="Arial MT"/>
                <a:cs typeface="Arial MT"/>
              </a:rPr>
              <a:t>12/22/2015.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755586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92570" algn="l"/>
              </a:tabLst>
            </a:pPr>
            <a:r>
              <a:rPr spc="-45" dirty="0"/>
              <a:t>First</a:t>
            </a:r>
            <a:r>
              <a:rPr spc="-105" dirty="0"/>
              <a:t> </a:t>
            </a:r>
            <a:r>
              <a:rPr spc="-185" dirty="0"/>
              <a:t>Successful</a:t>
            </a:r>
            <a:r>
              <a:rPr spc="-300" dirty="0"/>
              <a:t> </a:t>
            </a:r>
            <a:r>
              <a:rPr spc="-120" dirty="0"/>
              <a:t>Ground</a:t>
            </a:r>
            <a:r>
              <a:rPr spc="-215" dirty="0"/>
              <a:t> </a:t>
            </a:r>
            <a:r>
              <a:rPr spc="-10" dirty="0"/>
              <a:t>Landing</a:t>
            </a:r>
            <a:r>
              <a:rPr dirty="0"/>
              <a:t>	</a:t>
            </a:r>
            <a:r>
              <a:rPr spc="-80" dirty="0"/>
              <a:t>Date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66163" y="3045460"/>
          <a:ext cx="1980564" cy="74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0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Min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2015-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12-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93999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Boosters which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2200" spc="-1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successfully</a:t>
            </a:r>
            <a:r>
              <a:rPr sz="2200" spc="-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landed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drone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ship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had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mass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greater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than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292929"/>
                </a:solidFill>
                <a:latin typeface="Arial MT"/>
                <a:cs typeface="Arial MT"/>
              </a:rPr>
              <a:t>4000</a:t>
            </a:r>
            <a:r>
              <a:rPr sz="2200" spc="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but</a:t>
            </a:r>
            <a:r>
              <a:rPr sz="22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less</a:t>
            </a:r>
            <a:r>
              <a:rPr sz="2200" spc="-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than</a:t>
            </a:r>
            <a:r>
              <a:rPr sz="2200" spc="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60" dirty="0">
                <a:solidFill>
                  <a:srgbClr val="292929"/>
                </a:solidFill>
                <a:latin typeface="Arial MT"/>
                <a:cs typeface="Arial MT"/>
              </a:rPr>
              <a:t>6000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5250307"/>
            <a:ext cx="93211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Selecting</a:t>
            </a:r>
            <a:r>
              <a:rPr sz="22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distinct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22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versions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according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filters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above,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these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4</a:t>
            </a:r>
            <a:r>
              <a:rPr sz="2200" spc="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are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result.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535304"/>
            <a:ext cx="94659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05775" algn="l"/>
              </a:tabLst>
            </a:pPr>
            <a:r>
              <a:rPr sz="2500" spc="-120" dirty="0"/>
              <a:t>Successful</a:t>
            </a:r>
            <a:r>
              <a:rPr sz="2500" spc="-235" dirty="0"/>
              <a:t> </a:t>
            </a:r>
            <a:r>
              <a:rPr sz="2500" spc="-50" dirty="0"/>
              <a:t>Drone</a:t>
            </a:r>
            <a:r>
              <a:rPr sz="2500" spc="-65" dirty="0"/>
              <a:t> </a:t>
            </a:r>
            <a:r>
              <a:rPr sz="2500" spc="-80" dirty="0"/>
              <a:t>Ship</a:t>
            </a:r>
            <a:r>
              <a:rPr sz="2500" spc="-180" dirty="0"/>
              <a:t> </a:t>
            </a:r>
            <a:r>
              <a:rPr sz="2500" spc="-50" dirty="0"/>
              <a:t>Landing</a:t>
            </a:r>
            <a:r>
              <a:rPr sz="2500" spc="-70" dirty="0"/>
              <a:t> </a:t>
            </a:r>
            <a:r>
              <a:rPr sz="2500" dirty="0"/>
              <a:t>with</a:t>
            </a:r>
            <a:r>
              <a:rPr sz="2500" spc="30" dirty="0"/>
              <a:t> </a:t>
            </a:r>
            <a:r>
              <a:rPr sz="2500" spc="-95" dirty="0"/>
              <a:t>Payload</a:t>
            </a:r>
            <a:r>
              <a:rPr sz="2500" spc="-204" dirty="0"/>
              <a:t> </a:t>
            </a:r>
            <a:r>
              <a:rPr sz="2500" spc="-60" dirty="0"/>
              <a:t>between</a:t>
            </a:r>
            <a:r>
              <a:rPr sz="2500" spc="-140" dirty="0"/>
              <a:t> </a:t>
            </a:r>
            <a:r>
              <a:rPr sz="2500" spc="70" dirty="0"/>
              <a:t>4000</a:t>
            </a:r>
            <a:r>
              <a:rPr sz="2500" dirty="0"/>
              <a:t>	</a:t>
            </a:r>
            <a:r>
              <a:rPr sz="2500" spc="-60" dirty="0"/>
              <a:t>and</a:t>
            </a:r>
            <a:r>
              <a:rPr sz="2500" spc="-145" dirty="0"/>
              <a:t> </a:t>
            </a:r>
            <a:r>
              <a:rPr sz="2500" spc="105" dirty="0"/>
              <a:t>6000</a:t>
            </a:r>
            <a:endParaRPr sz="25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11402" y="2818764"/>
          <a:ext cx="2215515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Booster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B1021.2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B1031.2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B1022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B1026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63284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Number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-2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failure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mission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outcomes: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4401439"/>
            <a:ext cx="89922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Grouping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mission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counting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records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each</a:t>
            </a:r>
            <a:r>
              <a:rPr sz="22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group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led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us</a:t>
            </a:r>
            <a:r>
              <a:rPr sz="2200" spc="-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summary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above.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4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75" dirty="0"/>
              <a:t>Total</a:t>
            </a:r>
            <a:r>
              <a:rPr sz="3100" spc="-165" dirty="0"/>
              <a:t> </a:t>
            </a:r>
            <a:r>
              <a:rPr sz="3100" spc="-114" dirty="0"/>
              <a:t>Number</a:t>
            </a:r>
            <a:r>
              <a:rPr sz="3100" spc="-130" dirty="0"/>
              <a:t> </a:t>
            </a:r>
            <a:r>
              <a:rPr sz="3100" dirty="0"/>
              <a:t>of</a:t>
            </a:r>
            <a:r>
              <a:rPr sz="3100" spc="-135" dirty="0"/>
              <a:t> </a:t>
            </a:r>
            <a:r>
              <a:rPr sz="3100" spc="-155" dirty="0"/>
              <a:t>Successful</a:t>
            </a:r>
            <a:r>
              <a:rPr sz="3100" spc="-320" dirty="0"/>
              <a:t> </a:t>
            </a:r>
            <a:r>
              <a:rPr sz="3100" spc="-90" dirty="0"/>
              <a:t>and</a:t>
            </a:r>
            <a:r>
              <a:rPr sz="3100" spc="-175" dirty="0"/>
              <a:t> </a:t>
            </a:r>
            <a:r>
              <a:rPr sz="3100" spc="-35" dirty="0"/>
              <a:t>Failure</a:t>
            </a:r>
            <a:r>
              <a:rPr sz="3100" spc="305" dirty="0"/>
              <a:t> </a:t>
            </a:r>
            <a:r>
              <a:rPr sz="3100" spc="-95" dirty="0"/>
              <a:t>Mission</a:t>
            </a:r>
            <a:r>
              <a:rPr sz="3100" spc="-120" dirty="0"/>
              <a:t> </a:t>
            </a:r>
            <a:r>
              <a:rPr sz="3100" spc="-40" dirty="0"/>
              <a:t>Outcomes</a:t>
            </a:r>
            <a:endParaRPr sz="31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42555" y="2505201"/>
          <a:ext cx="5499099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Mission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Outcome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Occurrences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Success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99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Success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(payload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unclear)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Failure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flight)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01494"/>
            <a:ext cx="69164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Boosters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which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22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carried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maximum</a:t>
            </a:r>
            <a:r>
              <a:rPr sz="2200" spc="-1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5168265"/>
            <a:ext cx="852043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2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These</a:t>
            </a:r>
            <a:r>
              <a:rPr sz="2200" spc="-2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boosters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which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have</a:t>
            </a:r>
            <a:r>
              <a:rPr sz="22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carried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maximum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payload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mass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ts val="2520"/>
              </a:lnSpc>
            </a:pP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registered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dataset.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713930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Boosters</a:t>
            </a:r>
            <a:r>
              <a:rPr spc="-185" dirty="0"/>
              <a:t> </a:t>
            </a:r>
            <a:r>
              <a:rPr spc="-114" dirty="0"/>
              <a:t>Carried</a:t>
            </a:r>
            <a:r>
              <a:rPr spc="-220" dirty="0"/>
              <a:t> </a:t>
            </a:r>
            <a:r>
              <a:rPr spc="-100" dirty="0"/>
              <a:t>Maximum</a:t>
            </a:r>
            <a:r>
              <a:rPr spc="-40" dirty="0"/>
              <a:t> </a:t>
            </a:r>
            <a:r>
              <a:rPr spc="-75" dirty="0"/>
              <a:t>Payload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32712" y="2395601"/>
          <a:ext cx="2058035" cy="259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8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Booster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(...)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B1048.4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B1048.5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B1049.4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B1049.5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B1049.7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B1051.3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907916" y="2395601"/>
          <a:ext cx="2077085" cy="259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7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Booster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B1051.4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B1051.6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B1056.4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B1058.3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B1060.2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B5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B1060.3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34642"/>
            <a:ext cx="93853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Failed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drone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ship,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their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booster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versions,</a:t>
            </a:r>
            <a:r>
              <a:rPr sz="22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site 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names</a:t>
            </a:r>
            <a:r>
              <a:rPr sz="2200" spc="-2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year</a:t>
            </a:r>
            <a:r>
              <a:rPr sz="2200" spc="-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60" dirty="0">
                <a:solidFill>
                  <a:srgbClr val="292929"/>
                </a:solidFill>
                <a:latin typeface="Arial MT"/>
                <a:cs typeface="Arial MT"/>
              </a:rPr>
              <a:t>2015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5250307"/>
            <a:ext cx="5407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list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above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has</a:t>
            </a:r>
            <a:r>
              <a:rPr sz="22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only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two</a:t>
            </a:r>
            <a:r>
              <a:rPr sz="2200" spc="-1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occurrences.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10" dirty="0"/>
              <a:t>2015</a:t>
            </a:r>
            <a:r>
              <a:rPr spc="395" dirty="0"/>
              <a:t> </a:t>
            </a:r>
            <a:r>
              <a:rPr spc="-160" dirty="0"/>
              <a:t>Launch</a:t>
            </a:r>
            <a:r>
              <a:rPr spc="-155" dirty="0"/>
              <a:t> </a:t>
            </a:r>
            <a:r>
              <a:rPr spc="-135" dirty="0"/>
              <a:t>Records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66163" y="2877947"/>
          <a:ext cx="384810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Booster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Launch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v1.1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CCAFS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F9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v1.1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B1015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CCAFS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LC-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541729"/>
            <a:ext cx="9199880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Ranking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all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landing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between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60" dirty="0">
                <a:solidFill>
                  <a:srgbClr val="292929"/>
                </a:solidFill>
                <a:latin typeface="Arial MT"/>
                <a:cs typeface="Arial MT"/>
              </a:rPr>
              <a:t>2010-</a:t>
            </a:r>
            <a:r>
              <a:rPr sz="2200" spc="55" dirty="0">
                <a:solidFill>
                  <a:srgbClr val="292929"/>
                </a:solidFill>
                <a:latin typeface="Arial MT"/>
                <a:cs typeface="Arial MT"/>
              </a:rPr>
              <a:t>06-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04</a:t>
            </a:r>
            <a:r>
              <a:rPr sz="2200" spc="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2017-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03-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20: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8664" y="5471261"/>
            <a:ext cx="86950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This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view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alerts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us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that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“No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attempt”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must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be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taken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account.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1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60" dirty="0"/>
              <a:t>Rank</a:t>
            </a:r>
            <a:r>
              <a:rPr sz="2800" spc="-355" dirty="0"/>
              <a:t> </a:t>
            </a:r>
            <a:r>
              <a:rPr sz="2800" spc="-55" dirty="0"/>
              <a:t>Landing</a:t>
            </a:r>
            <a:r>
              <a:rPr sz="2800" spc="-50" dirty="0"/>
              <a:t> </a:t>
            </a:r>
            <a:r>
              <a:rPr sz="2800" spc="-114" dirty="0"/>
              <a:t>Outcomes</a:t>
            </a:r>
            <a:r>
              <a:rPr sz="2800" spc="-235" dirty="0"/>
              <a:t> </a:t>
            </a:r>
            <a:r>
              <a:rPr sz="2800" spc="-100" dirty="0"/>
              <a:t>Between</a:t>
            </a:r>
            <a:r>
              <a:rPr sz="2800" spc="-160" dirty="0"/>
              <a:t> </a:t>
            </a:r>
            <a:r>
              <a:rPr sz="2800" spc="95" dirty="0"/>
              <a:t>2010-06-</a:t>
            </a:r>
            <a:r>
              <a:rPr sz="2800" dirty="0"/>
              <a:t>04</a:t>
            </a:r>
            <a:r>
              <a:rPr sz="2800" spc="260" dirty="0"/>
              <a:t> </a:t>
            </a:r>
            <a:r>
              <a:rPr sz="2800" spc="-30" dirty="0"/>
              <a:t>and</a:t>
            </a:r>
            <a:r>
              <a:rPr sz="2800" spc="-15" dirty="0"/>
              <a:t> </a:t>
            </a:r>
            <a:r>
              <a:rPr sz="2800" spc="95" dirty="0"/>
              <a:t>2017-03-</a:t>
            </a:r>
            <a:r>
              <a:rPr sz="2800" spc="65" dirty="0"/>
              <a:t>20</a:t>
            </a:r>
            <a:endParaRPr sz="28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61845" y="2099817"/>
          <a:ext cx="5722620" cy="3334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Landing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Outcome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Occurrences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attempt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Failure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(drone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Success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(drone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Controlled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(ocean)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Success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(ground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pad)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Failure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(parachute)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Uncontrolled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(ocean)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Precluded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(drone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ship)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87427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3134" y="6077813"/>
            <a:ext cx="266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25" dirty="0">
                <a:solidFill>
                  <a:srgbClr val="1C7BDB"/>
                </a:solidFill>
                <a:latin typeface="Arial MT"/>
                <a:cs typeface="Arial MT"/>
              </a:rPr>
              <a:t>38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64" y="5632500"/>
            <a:ext cx="852614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1300" marR="5080" indent="-228600">
              <a:lnSpc>
                <a:spcPts val="221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z="2000" spc="-75" dirty="0">
                <a:solidFill>
                  <a:srgbClr val="292929"/>
                </a:solidFill>
                <a:latin typeface="Arial MT"/>
                <a:cs typeface="Arial MT"/>
              </a:rPr>
              <a:t>Launch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sites</a:t>
            </a:r>
            <a:r>
              <a:rPr sz="20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0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near</a:t>
            </a:r>
            <a:r>
              <a:rPr sz="20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95" dirty="0">
                <a:solidFill>
                  <a:srgbClr val="292929"/>
                </a:solidFill>
                <a:latin typeface="Arial MT"/>
                <a:cs typeface="Arial MT"/>
              </a:rPr>
              <a:t>sea,</a:t>
            </a:r>
            <a:r>
              <a:rPr sz="20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probably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292929"/>
                </a:solidFill>
                <a:latin typeface="Arial MT"/>
                <a:cs typeface="Arial MT"/>
              </a:rPr>
              <a:t>safety,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but</a:t>
            </a:r>
            <a:r>
              <a:rPr sz="20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not</a:t>
            </a:r>
            <a:r>
              <a:rPr sz="20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too</a:t>
            </a:r>
            <a:r>
              <a:rPr sz="20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far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roads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railroads.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303466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All</a:t>
            </a:r>
            <a:r>
              <a:rPr spc="-110" dirty="0"/>
              <a:t> </a:t>
            </a:r>
            <a:r>
              <a:rPr spc="-100" dirty="0"/>
              <a:t>launch</a:t>
            </a:r>
            <a:r>
              <a:rPr spc="-80" dirty="0"/>
              <a:t> </a:t>
            </a:r>
            <a:r>
              <a:rPr spc="-40" dirty="0"/>
              <a:t>sites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9611" y="1612391"/>
            <a:ext cx="6825996" cy="410717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781301"/>
            <a:ext cx="5853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2000" spc="-95" dirty="0">
                <a:solidFill>
                  <a:srgbClr val="292929"/>
                </a:solidFill>
                <a:latin typeface="Arial MT"/>
                <a:cs typeface="Arial MT"/>
              </a:rPr>
              <a:t>Example</a:t>
            </a:r>
            <a:r>
              <a:rPr sz="2000" spc="-2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292929"/>
                </a:solidFill>
                <a:latin typeface="Arial MT"/>
                <a:cs typeface="Arial MT"/>
              </a:rPr>
              <a:t>KSCLC-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39A</a:t>
            </a:r>
            <a:r>
              <a:rPr sz="20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0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000" spc="-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64" y="5577636"/>
            <a:ext cx="704278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</a:tabLst>
            </a:pPr>
            <a:r>
              <a:rPr sz="2000" spc="-105" dirty="0">
                <a:solidFill>
                  <a:srgbClr val="292929"/>
                </a:solidFill>
                <a:latin typeface="Arial MT"/>
                <a:cs typeface="Arial MT"/>
              </a:rPr>
              <a:t>Green</a:t>
            </a:r>
            <a:r>
              <a:rPr sz="2000" spc="-2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markers</a:t>
            </a:r>
            <a:r>
              <a:rPr sz="2000" spc="-1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indicate</a:t>
            </a:r>
            <a:r>
              <a:rPr sz="20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0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000" spc="-1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red</a:t>
            </a:r>
            <a:r>
              <a:rPr sz="20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ones</a:t>
            </a:r>
            <a:r>
              <a:rPr sz="20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indicate</a:t>
            </a:r>
            <a:r>
              <a:rPr sz="2000" spc="25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failure.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8664" y="406095"/>
            <a:ext cx="510984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Launch</a:t>
            </a:r>
            <a:r>
              <a:rPr spc="-295" dirty="0"/>
              <a:t> </a:t>
            </a:r>
            <a:r>
              <a:rPr spc="-150" dirty="0"/>
              <a:t>Outcomes</a:t>
            </a:r>
            <a:r>
              <a:rPr spc="-295" dirty="0"/>
              <a:t> </a:t>
            </a:r>
            <a:r>
              <a:rPr dirty="0"/>
              <a:t>by</a:t>
            </a:r>
            <a:r>
              <a:rPr spc="475" dirty="0"/>
              <a:t> </a:t>
            </a:r>
            <a:r>
              <a:rPr spc="-20" dirty="0"/>
              <a:t>Site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584960" y="2156460"/>
            <a:ext cx="8423275" cy="3081655"/>
            <a:chOff x="1584960" y="2156460"/>
            <a:chExt cx="8423275" cy="30816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3892" y="2526792"/>
              <a:ext cx="7824216" cy="21518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8767" y="2156460"/>
              <a:ext cx="3980688" cy="30114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0792" y="2350008"/>
              <a:ext cx="3604260" cy="26334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56575" y="2351532"/>
              <a:ext cx="1799589" cy="2635250"/>
            </a:xfrm>
            <a:custGeom>
              <a:avLst/>
              <a:gdLst/>
              <a:ahLst/>
              <a:cxnLst/>
              <a:rect l="l" t="t" r="r" b="b"/>
              <a:pathLst>
                <a:path w="1799590" h="2635250">
                  <a:moveTo>
                    <a:pt x="0" y="0"/>
                  </a:moveTo>
                  <a:lnTo>
                    <a:pt x="1799590" y="1671700"/>
                  </a:lnTo>
                </a:path>
                <a:path w="1799590" h="2635250">
                  <a:moveTo>
                    <a:pt x="0" y="2634868"/>
                  </a:moveTo>
                  <a:lnTo>
                    <a:pt x="1799590" y="1937892"/>
                  </a:lnTo>
                </a:path>
              </a:pathLst>
            </a:custGeom>
            <a:ln w="635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4960" y="3325368"/>
              <a:ext cx="2500883" cy="19126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8508" y="3517392"/>
              <a:ext cx="2122932" cy="15377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02964" y="3186684"/>
              <a:ext cx="890269" cy="1870075"/>
            </a:xfrm>
            <a:custGeom>
              <a:avLst/>
              <a:gdLst/>
              <a:ahLst/>
              <a:cxnLst/>
              <a:rect l="l" t="t" r="r" b="b"/>
              <a:pathLst>
                <a:path w="890270" h="1870075">
                  <a:moveTo>
                    <a:pt x="0" y="333882"/>
                  </a:moveTo>
                  <a:lnTo>
                    <a:pt x="312547" y="0"/>
                  </a:lnTo>
                </a:path>
                <a:path w="890270" h="1870075">
                  <a:moveTo>
                    <a:pt x="0" y="1869820"/>
                  </a:moveTo>
                  <a:lnTo>
                    <a:pt x="890015" y="419100"/>
                  </a:lnTo>
                </a:path>
              </a:pathLst>
            </a:custGeom>
            <a:ln w="635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5299075"/>
            <a:ext cx="9315450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1300" marR="5080" indent="-228600">
              <a:lnSpc>
                <a:spcPts val="221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000" spc="-2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292929"/>
                </a:solidFill>
                <a:latin typeface="Arial MT"/>
                <a:cs typeface="Arial MT"/>
              </a:rPr>
              <a:t>KSCLC-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39A</a:t>
            </a:r>
            <a:r>
              <a:rPr sz="2000" spc="-2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Arial MT"/>
                <a:cs typeface="Arial MT"/>
              </a:rPr>
              <a:t>has</a:t>
            </a:r>
            <a:r>
              <a:rPr sz="20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good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logistics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Arial MT"/>
                <a:cs typeface="Arial MT"/>
              </a:rPr>
              <a:t>aspects,</a:t>
            </a:r>
            <a:r>
              <a:rPr sz="20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being</a:t>
            </a:r>
            <a:r>
              <a:rPr sz="20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near</a:t>
            </a:r>
            <a:r>
              <a:rPr sz="20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railroad</a:t>
            </a:r>
            <a:r>
              <a:rPr sz="20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0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road</a:t>
            </a:r>
            <a:r>
              <a:rPr sz="20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and 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relatively</a:t>
            </a:r>
            <a:r>
              <a:rPr sz="20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far</a:t>
            </a:r>
            <a:r>
              <a:rPr sz="20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0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inhabited</a:t>
            </a:r>
            <a:r>
              <a:rPr sz="2000" spc="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areas.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Logistics</a:t>
            </a:r>
            <a:r>
              <a:rPr spc="-18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0" dirty="0"/>
              <a:t>Safety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6659" y="1519427"/>
            <a:ext cx="4678680" cy="38191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5413349"/>
            <a:ext cx="8662670" cy="62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345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2000" spc="-1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000" spc="-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55" dirty="0">
                <a:solidFill>
                  <a:srgbClr val="292929"/>
                </a:solidFill>
                <a:latin typeface="Arial MT"/>
                <a:cs typeface="Arial MT"/>
              </a:rPr>
              <a:t>place</a:t>
            </a:r>
            <a:r>
              <a:rPr sz="2000" spc="-1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from</a:t>
            </a:r>
            <a:r>
              <a:rPr sz="20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where</a:t>
            </a:r>
            <a:r>
              <a:rPr sz="20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0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0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Arial MT"/>
                <a:cs typeface="Arial MT"/>
              </a:rPr>
              <a:t>done</a:t>
            </a:r>
            <a:r>
              <a:rPr sz="20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292929"/>
                </a:solidFill>
                <a:latin typeface="Arial MT"/>
                <a:cs typeface="Arial MT"/>
              </a:rPr>
              <a:t>seems</a:t>
            </a:r>
            <a:r>
              <a:rPr sz="2000" spc="-2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000" spc="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30" dirty="0">
                <a:solidFill>
                  <a:srgbClr val="292929"/>
                </a:solidFill>
                <a:latin typeface="Arial MT"/>
                <a:cs typeface="Arial MT"/>
              </a:rPr>
              <a:t>be</a:t>
            </a:r>
            <a:r>
              <a:rPr sz="20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000" spc="-2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very</a:t>
            </a:r>
            <a:r>
              <a:rPr sz="20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important</a:t>
            </a:r>
            <a:r>
              <a:rPr sz="20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factor</a:t>
            </a:r>
            <a:r>
              <a:rPr sz="2000" spc="2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345"/>
              </a:lnSpc>
            </a:pPr>
            <a:r>
              <a:rPr sz="2000" spc="-100" dirty="0">
                <a:solidFill>
                  <a:srgbClr val="292929"/>
                </a:solidFill>
                <a:latin typeface="Arial MT"/>
                <a:cs typeface="Arial MT"/>
              </a:rPr>
              <a:t>success</a:t>
            </a:r>
            <a:r>
              <a:rPr sz="2000" spc="-2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000" spc="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missions.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85" dirty="0"/>
              <a:t>Successful</a:t>
            </a:r>
            <a:r>
              <a:rPr spc="-300" dirty="0"/>
              <a:t> </a:t>
            </a:r>
            <a:r>
              <a:rPr spc="-185" dirty="0"/>
              <a:t>Launches</a:t>
            </a:r>
            <a:r>
              <a:rPr spc="-295" dirty="0"/>
              <a:t> </a:t>
            </a:r>
            <a:r>
              <a:rPr dirty="0"/>
              <a:t>by</a:t>
            </a:r>
            <a:r>
              <a:rPr spc="515" dirty="0"/>
              <a:t> </a:t>
            </a:r>
            <a:r>
              <a:rPr spc="-20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5392" y="1443227"/>
            <a:ext cx="5774435" cy="39715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2393" y="5428284"/>
            <a:ext cx="55264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76.9%</a:t>
            </a:r>
            <a:r>
              <a:rPr sz="2200" spc="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-1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in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this</a:t>
            </a:r>
            <a:r>
              <a:rPr sz="2200" spc="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site.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60" dirty="0"/>
              <a:t>Launch</a:t>
            </a:r>
            <a:r>
              <a:rPr spc="-260" dirty="0"/>
              <a:t> </a:t>
            </a:r>
            <a:r>
              <a:rPr spc="-245" dirty="0"/>
              <a:t>Success</a:t>
            </a:r>
            <a:r>
              <a:rPr spc="-450" dirty="0"/>
              <a:t> </a:t>
            </a:r>
            <a:r>
              <a:rPr spc="-125" dirty="0"/>
              <a:t>Ratio</a:t>
            </a:r>
            <a:r>
              <a:rPr spc="-170" dirty="0"/>
              <a:t> </a:t>
            </a:r>
            <a:r>
              <a:rPr dirty="0"/>
              <a:t>for</a:t>
            </a:r>
            <a:r>
              <a:rPr spc="80" dirty="0"/>
              <a:t> </a:t>
            </a:r>
            <a:r>
              <a:rPr spc="-480" dirty="0"/>
              <a:t>KS</a:t>
            </a:r>
            <a:r>
              <a:rPr spc="145" dirty="0"/>
              <a:t>C</a:t>
            </a:r>
            <a:r>
              <a:rPr spc="-110" dirty="0"/>
              <a:t>LC</a:t>
            </a:r>
            <a:r>
              <a:rPr spc="-100" dirty="0"/>
              <a:t>-</a:t>
            </a:r>
            <a:r>
              <a:rPr spc="-25" dirty="0"/>
              <a:t>39A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8020" y="2046732"/>
            <a:ext cx="5775959" cy="27645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5428284"/>
            <a:ext cx="95618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Payloads</a:t>
            </a:r>
            <a:r>
              <a:rPr sz="2200" spc="-2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under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6,000kg</a:t>
            </a:r>
            <a:r>
              <a:rPr sz="2200" spc="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FT</a:t>
            </a:r>
            <a:r>
              <a:rPr sz="2200" spc="-4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boosters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most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combination.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Payload</a:t>
            </a:r>
            <a:r>
              <a:rPr spc="-240" dirty="0"/>
              <a:t> </a:t>
            </a:r>
            <a:r>
              <a:rPr spc="-145" dirty="0"/>
              <a:t>vs.</a:t>
            </a:r>
            <a:r>
              <a:rPr spc="-365" dirty="0"/>
              <a:t> </a:t>
            </a:r>
            <a:r>
              <a:rPr spc="-80" dirty="0"/>
              <a:t>Launch</a:t>
            </a:r>
            <a:r>
              <a:rPr spc="-45" dirty="0"/>
              <a:t> </a:t>
            </a:r>
            <a:r>
              <a:rPr spc="-75" dirty="0"/>
              <a:t>Outcome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6351" y="1665732"/>
            <a:ext cx="6309359" cy="35265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5428284"/>
            <a:ext cx="82086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There’s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not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enough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estimate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risk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-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7,000kg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Payload</a:t>
            </a:r>
            <a:r>
              <a:rPr spc="-240" dirty="0"/>
              <a:t> </a:t>
            </a:r>
            <a:r>
              <a:rPr spc="-145" dirty="0"/>
              <a:t>vs.</a:t>
            </a:r>
            <a:r>
              <a:rPr spc="-365" dirty="0"/>
              <a:t> </a:t>
            </a:r>
            <a:r>
              <a:rPr spc="-80" dirty="0"/>
              <a:t>Launch</a:t>
            </a:r>
            <a:r>
              <a:rPr spc="-45" dirty="0"/>
              <a:t> </a:t>
            </a:r>
            <a:r>
              <a:rPr spc="-75" dirty="0"/>
              <a:t>Outcome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2739" y="1656588"/>
            <a:ext cx="6309359" cy="35448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2091308"/>
            <a:ext cx="5031105" cy="2418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95885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  <a:tab pos="4069715" algn="l"/>
              </a:tabLst>
            </a:pP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Four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classification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models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tested,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their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accuracies</a:t>
            </a:r>
            <a:r>
              <a:rPr sz="2200" spc="-1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plotted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	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beside;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292929"/>
              </a:buClr>
              <a:buFont typeface="Arial MT"/>
              <a:buChar char="•"/>
            </a:pP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292929"/>
              </a:buClr>
              <a:buFont typeface="Arial MT"/>
              <a:buChar char="•"/>
            </a:pPr>
            <a:endParaRPr sz="2200">
              <a:latin typeface="Arial MT"/>
              <a:cs typeface="Arial MT"/>
            </a:endParaRPr>
          </a:p>
          <a:p>
            <a:pPr marL="241300" marR="5080" indent="-228600">
              <a:lnSpc>
                <a:spcPct val="1000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model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with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highest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classification 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accuracy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Decision</a:t>
            </a:r>
            <a:r>
              <a:rPr sz="2200" spc="-1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Tree</a:t>
            </a:r>
            <a:r>
              <a:rPr sz="22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Classifier, 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which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has</a:t>
            </a:r>
            <a:r>
              <a:rPr sz="2200" spc="-2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accuracies</a:t>
            </a:r>
            <a:r>
              <a:rPr sz="2200" spc="-2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than</a:t>
            </a:r>
            <a:r>
              <a:rPr sz="2200" spc="-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87%.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Classification</a:t>
            </a:r>
            <a:r>
              <a:rPr spc="-150" dirty="0"/>
              <a:t> </a:t>
            </a:r>
            <a:r>
              <a:rPr spc="-125" dirty="0"/>
              <a:t>Accuracy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7371" y="1897379"/>
            <a:ext cx="3678935" cy="26487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4965953"/>
            <a:ext cx="90500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Confusion</a:t>
            </a:r>
            <a:r>
              <a:rPr sz="2000" spc="-16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matrix</a:t>
            </a:r>
            <a:r>
              <a:rPr sz="20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292929"/>
                </a:solidFill>
                <a:latin typeface="Arial MT"/>
                <a:cs typeface="Arial MT"/>
              </a:rPr>
              <a:t>Decision</a:t>
            </a:r>
            <a:r>
              <a:rPr sz="20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292929"/>
                </a:solidFill>
                <a:latin typeface="Arial MT"/>
                <a:cs typeface="Arial MT"/>
              </a:rPr>
              <a:t>Tree</a:t>
            </a:r>
            <a:r>
              <a:rPr sz="2000" spc="-24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92929"/>
                </a:solidFill>
                <a:latin typeface="Arial MT"/>
                <a:cs typeface="Arial MT"/>
              </a:rPr>
              <a:t>Classifier</a:t>
            </a:r>
            <a:r>
              <a:rPr sz="20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proves</a:t>
            </a:r>
            <a:r>
              <a:rPr sz="20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its</a:t>
            </a:r>
            <a:r>
              <a:rPr sz="20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292929"/>
                </a:solidFill>
                <a:latin typeface="Arial MT"/>
                <a:cs typeface="Arial MT"/>
              </a:rPr>
              <a:t>accuracy</a:t>
            </a:r>
            <a:r>
              <a:rPr sz="2000" spc="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by</a:t>
            </a:r>
            <a:r>
              <a:rPr sz="20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showing</a:t>
            </a:r>
            <a:r>
              <a:rPr sz="20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Arial MT"/>
                <a:cs typeface="Arial MT"/>
              </a:rPr>
              <a:t>big 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numbers</a:t>
            </a:r>
            <a:r>
              <a:rPr sz="20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true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 positive</a:t>
            </a:r>
            <a:r>
              <a:rPr sz="20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0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true</a:t>
            </a:r>
            <a:r>
              <a:rPr sz="20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Arial MT"/>
                <a:cs typeface="Arial MT"/>
              </a:rPr>
              <a:t>negative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Arial MT"/>
                <a:cs typeface="Arial MT"/>
              </a:rPr>
              <a:t>compared</a:t>
            </a:r>
            <a:r>
              <a:rPr sz="2000" spc="-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000" spc="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Arial MT"/>
                <a:cs typeface="Arial MT"/>
              </a:rPr>
              <a:t>false</a:t>
            </a:r>
            <a:r>
              <a:rPr sz="20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Arial MT"/>
                <a:cs typeface="Arial MT"/>
              </a:rPr>
              <a:t>ones.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Confusion</a:t>
            </a:r>
            <a:r>
              <a:rPr spc="-200" dirty="0"/>
              <a:t> </a:t>
            </a:r>
            <a:r>
              <a:rPr spc="-65" dirty="0"/>
              <a:t>Matrix</a:t>
            </a:r>
            <a:r>
              <a:rPr spc="-12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14" dirty="0"/>
              <a:t>Decision</a:t>
            </a:r>
            <a:r>
              <a:rPr spc="-175" dirty="0"/>
              <a:t> Tree</a:t>
            </a:r>
            <a:r>
              <a:rPr spc="-290" dirty="0"/>
              <a:t> </a:t>
            </a:r>
            <a:r>
              <a:rPr spc="-70" dirty="0"/>
              <a:t>Classifier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100" y="1900427"/>
            <a:ext cx="3429000" cy="26487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83410"/>
            <a:ext cx="8495665" cy="37547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Different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data</a:t>
            </a:r>
            <a:r>
              <a:rPr sz="2200" spc="-14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sources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were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analyzed,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refining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conclusions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along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process;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2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best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launch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site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is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KSCLC-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39A;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har char="•"/>
              <a:tabLst>
                <a:tab pos="240665" algn="l"/>
              </a:tabLst>
            </a:pP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Launches</a:t>
            </a:r>
            <a:r>
              <a:rPr sz="2200" spc="-2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above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7,000kg</a:t>
            </a:r>
            <a:r>
              <a:rPr sz="2200" spc="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less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risky;</a:t>
            </a:r>
            <a:endParaRPr sz="2200">
              <a:latin typeface="Arial MT"/>
              <a:cs typeface="Arial MT"/>
            </a:endParaRPr>
          </a:p>
          <a:p>
            <a:pPr marL="241300" marR="47625" indent="-228600">
              <a:lnSpc>
                <a:spcPct val="100000"/>
              </a:lnSpc>
              <a:spcBef>
                <a:spcPts val="1390"/>
              </a:spcBef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Although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most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of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mission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2200" spc="-12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are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successful,</a:t>
            </a:r>
            <a:r>
              <a:rPr sz="22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5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-1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landing 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outcomes</a:t>
            </a:r>
            <a:r>
              <a:rPr sz="2200" spc="-1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seem</a:t>
            </a:r>
            <a:r>
              <a:rPr sz="2200" spc="-25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improve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over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0" dirty="0">
                <a:solidFill>
                  <a:srgbClr val="292929"/>
                </a:solidFill>
                <a:latin typeface="Arial MT"/>
                <a:cs typeface="Arial MT"/>
              </a:rPr>
              <a:t>time,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according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the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evolution of 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processes</a:t>
            </a:r>
            <a:r>
              <a:rPr sz="2200" spc="-1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r>
              <a:rPr sz="2200" spc="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rockets;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10"/>
              </a:spcBef>
              <a:buChar char="•"/>
              <a:tabLst>
                <a:tab pos="240665" algn="l"/>
              </a:tabLst>
            </a:pP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Decision</a:t>
            </a:r>
            <a:r>
              <a:rPr sz="2200" spc="-1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Tree</a:t>
            </a:r>
            <a:r>
              <a:rPr sz="2200" spc="-2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Classifier</a:t>
            </a:r>
            <a:r>
              <a:rPr sz="2200" spc="-17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90" dirty="0">
                <a:solidFill>
                  <a:srgbClr val="292929"/>
                </a:solidFill>
                <a:latin typeface="Arial MT"/>
                <a:cs typeface="Arial MT"/>
              </a:rPr>
              <a:t>can</a:t>
            </a:r>
            <a:r>
              <a:rPr sz="2200" spc="-229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be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Arial MT"/>
                <a:cs typeface="Arial MT"/>
              </a:rPr>
              <a:t>used</a:t>
            </a:r>
            <a:r>
              <a:rPr sz="2200" spc="-13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r>
              <a:rPr sz="2200" spc="10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predict</a:t>
            </a:r>
            <a:r>
              <a:rPr sz="2200" spc="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0" dirty="0">
                <a:solidFill>
                  <a:srgbClr val="292929"/>
                </a:solidFill>
                <a:latin typeface="Arial MT"/>
                <a:cs typeface="Arial MT"/>
              </a:rPr>
              <a:t>successful</a:t>
            </a:r>
            <a:r>
              <a:rPr sz="2200" spc="-19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landings</a:t>
            </a:r>
            <a:r>
              <a:rPr sz="2200" spc="1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increase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profits.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Conclusions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64" y="1863343"/>
            <a:ext cx="8051800" cy="1203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7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As</a:t>
            </a:r>
            <a:r>
              <a:rPr sz="2200" spc="-2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75" dirty="0">
                <a:solidFill>
                  <a:srgbClr val="292929"/>
                </a:solidFill>
                <a:latin typeface="Arial MT"/>
                <a:cs typeface="Arial MT"/>
              </a:rPr>
              <a:t>an</a:t>
            </a:r>
            <a:r>
              <a:rPr sz="2200" spc="-20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improvement</a:t>
            </a:r>
            <a:r>
              <a:rPr sz="2200" spc="-1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for</a:t>
            </a:r>
            <a:r>
              <a:rPr sz="2200" spc="-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model</a:t>
            </a:r>
            <a:r>
              <a:rPr sz="2200" spc="-9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tests,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it’s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important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 to</a:t>
            </a:r>
            <a:r>
              <a:rPr sz="2200" spc="8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set</a:t>
            </a:r>
            <a:r>
              <a:rPr sz="2200" spc="-12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Arial MT"/>
                <a:cs typeface="Arial MT"/>
              </a:rPr>
              <a:t>a</a:t>
            </a:r>
            <a:r>
              <a:rPr sz="2200" spc="-28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65" dirty="0">
                <a:solidFill>
                  <a:srgbClr val="292929"/>
                </a:solidFill>
                <a:latin typeface="Arial MT"/>
                <a:cs typeface="Arial MT"/>
              </a:rPr>
              <a:t>value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Arial MT"/>
                <a:cs typeface="Arial MT"/>
              </a:rPr>
              <a:t>to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ts val="2570"/>
              </a:lnSpc>
            </a:pPr>
            <a:r>
              <a:rPr sz="2000" spc="-10" dirty="0">
                <a:solidFill>
                  <a:srgbClr val="292929"/>
                </a:solidFill>
                <a:latin typeface="Courier New"/>
                <a:cs typeface="Courier New"/>
              </a:rPr>
              <a:t>np.random.seed</a:t>
            </a:r>
            <a:r>
              <a:rPr sz="2000" spc="-52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variable;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0"/>
              </a:spcBef>
              <a:buChar char="•"/>
              <a:tabLst>
                <a:tab pos="240665" algn="l"/>
              </a:tabLst>
            </a:pP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Folium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didn’t</a:t>
            </a:r>
            <a:r>
              <a:rPr sz="2200" spc="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Arial MT"/>
                <a:cs typeface="Arial MT"/>
              </a:rPr>
              <a:t>show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85" dirty="0">
                <a:solidFill>
                  <a:srgbClr val="292929"/>
                </a:solidFill>
                <a:latin typeface="Arial MT"/>
                <a:cs typeface="Arial MT"/>
              </a:rPr>
              <a:t>maps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on</a:t>
            </a:r>
            <a:r>
              <a:rPr sz="2200" spc="-3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Arial MT"/>
                <a:cs typeface="Arial MT"/>
              </a:rPr>
              <a:t>Github,</a:t>
            </a:r>
            <a:r>
              <a:rPr sz="2200" spc="-55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so</a:t>
            </a:r>
            <a:r>
              <a:rPr sz="2200" spc="-7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I</a:t>
            </a:r>
            <a:r>
              <a:rPr sz="2200" spc="-114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29"/>
                </a:solidFill>
                <a:latin typeface="Arial MT"/>
                <a:cs typeface="Arial MT"/>
              </a:rPr>
              <a:t>took</a:t>
            </a:r>
            <a:r>
              <a:rPr sz="2200" spc="10" dirty="0">
                <a:solidFill>
                  <a:srgbClr val="29292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Arial MT"/>
                <a:cs typeface="Arial MT"/>
              </a:rPr>
              <a:t>screenshots.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Appendix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2632</Words>
  <Application>Microsoft Office PowerPoint</Application>
  <PresentationFormat>Widescreen</PresentationFormat>
  <Paragraphs>405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Aptos</vt:lpstr>
      <vt:lpstr>Arial</vt:lpstr>
      <vt:lpstr>Arial MT</vt:lpstr>
      <vt:lpstr>Calibri</vt:lpstr>
      <vt:lpstr>Courier New</vt:lpstr>
      <vt:lpstr>Microsoft Sans Serif</vt:lpstr>
      <vt:lpstr>Times New Roman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Methodology</vt:lpstr>
      <vt:lpstr>Data Collection</vt:lpstr>
      <vt:lpstr>Data Collection – SpaceX API</vt:lpstr>
      <vt:lpstr>Data Collection - Scraping</vt:lpstr>
      <vt:lpstr>Data Wrangling</vt:lpstr>
      <vt:lpstr>EDA with SQL</vt:lpstr>
      <vt:lpstr>EDA with Data Visualization</vt:lpstr>
      <vt:lpstr>Build an Interactive Map with Folium</vt:lpstr>
      <vt:lpstr>Build a Dashboard with Plotly Dash</vt:lpstr>
      <vt:lpstr>Predictive Analysis (Classification)</vt:lpstr>
      <vt:lpstr>Results</vt:lpstr>
      <vt:lpstr>Results</vt:lpstr>
      <vt:lpstr>Results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Launch Site Names Begin with 'CCA'</vt:lpstr>
      <vt:lpstr>All Launch Site Names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All launch sites</vt:lpstr>
      <vt:lpstr>Launch Outcomes by Site</vt:lpstr>
      <vt:lpstr>Logistics and Safety</vt:lpstr>
      <vt:lpstr>PowerPoint Presentation</vt:lpstr>
      <vt:lpstr>Successful Launches by Site</vt:lpstr>
      <vt:lpstr>Launch Success Ratio for KSCLC-39A</vt:lpstr>
      <vt:lpstr>Payload vs. Launch Outcome</vt:lpstr>
      <vt:lpstr>Payload vs. Launch Outcome</vt:lpstr>
      <vt:lpstr>PowerPoint Presentation</vt:lpstr>
      <vt:lpstr>Classification Accuracy</vt:lpstr>
      <vt:lpstr>Confusion Matrix of Decision Tree Classifier</vt:lpstr>
      <vt:lpstr>Conclusions</vt:lpstr>
      <vt:lpstr>Appendix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Gilchrist Tshabalalala</cp:lastModifiedBy>
  <cp:revision>1</cp:revision>
  <dcterms:created xsi:type="dcterms:W3CDTF">2025-12-26T22:39:16Z</dcterms:created>
  <dcterms:modified xsi:type="dcterms:W3CDTF">2025-12-26T23:44:39Z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2025-12-26T00:00:00Z</vt:filetime>
  </property>
  <property fmtid="{D5CDD505-2E9C-101B-9397-08002B2CF9AE}" pid="5" name="Producer">
    <vt:lpwstr>Microsoft® PowerPoint® 2021</vt:lpwstr>
  </property>
</Properties>
</file>